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segunda-feira, 17/08/2026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Duelo: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seu primeiro laço de repetição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você não preenche buraco no código dos outros. Você abre um projeto vazio e escreve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72 linhas inteiras — e sai daqui com um jogo rodando na sua máquina.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1002182" cy="384048"/>
          </a:xfrm>
          <a:prstGeom prst="roundRect">
            <a:avLst>
              <a:gd name="adj" fmla="val 23810"/>
            </a:avLst>
          </a:prstGeom>
          <a:solidFill>
            <a:srgbClr val="2A2340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72000"/>
            <a:ext cx="10021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71446" y="4572000"/>
            <a:ext cx="1693469" cy="384048"/>
          </a:xfrm>
          <a:prstGeom prst="roundRect">
            <a:avLst>
              <a:gd name="adj" fmla="val 23810"/>
            </a:avLst>
          </a:prstGeom>
          <a:solidFill>
            <a:srgbClr val="2A2340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71446" y="4572000"/>
            <a:ext cx="16934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Lutador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11219" y="4572000"/>
            <a:ext cx="804672" cy="384048"/>
          </a:xfrm>
          <a:prstGeom prst="roundRect">
            <a:avLst>
              <a:gd name="adj" fmla="val 23810"/>
            </a:avLst>
          </a:prstGeom>
          <a:solidFill>
            <a:srgbClr val="2A2340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1219" y="457200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62195" y="4572000"/>
            <a:ext cx="903427" cy="384048"/>
          </a:xfrm>
          <a:prstGeom prst="roundRect">
            <a:avLst>
              <a:gd name="adj" fmla="val 23810"/>
            </a:avLst>
          </a:prstGeom>
          <a:solidFill>
            <a:srgbClr val="2A2340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2195" y="4572000"/>
            <a:ext cx="9034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11926" y="4572000"/>
            <a:ext cx="1495958" cy="384048"/>
          </a:xfrm>
          <a:prstGeom prst="roundRect">
            <a:avLst>
              <a:gd name="adj" fmla="val 23810"/>
            </a:avLst>
          </a:prstGeom>
          <a:solidFill>
            <a:srgbClr val="2A2340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11926" y="4572000"/>
            <a:ext cx="14959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54189" y="4572000"/>
            <a:ext cx="804672" cy="384048"/>
          </a:xfrm>
          <a:prstGeom prst="roundRect">
            <a:avLst>
              <a:gd name="adj" fmla="val 23810"/>
            </a:avLst>
          </a:prstGeom>
          <a:solidFill>
            <a:srgbClr val="2A2340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4189" y="457200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passos · uma aula de 4h · um conceito novo só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UC12 · Técnico em Informática · Senac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 DA NOITE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construir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630936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lutadores se batem até um cair. Cada um tem uma barra de vida que encolhe a cada golpe.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095805"/>
            <a:ext cx="6309360" cy="2102612"/>
          </a:xfrm>
          <a:prstGeom prst="rect">
            <a:avLst/>
          </a:prstGeom>
          <a:solidFill>
            <a:srgbClr val="1C1C1C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095805"/>
            <a:ext cx="6309360" cy="256032"/>
          </a:xfrm>
          <a:prstGeom prst="rect">
            <a:avLst/>
          </a:prstGeom>
          <a:solidFill>
            <a:srgbClr val="2E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2095805"/>
            <a:ext cx="6089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Debug Console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498141"/>
            <a:ext cx="5980176" cy="22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DUELO: Ana x Bruno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720137"/>
            <a:ext cx="5980176" cy="22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2942133"/>
            <a:ext cx="5980176" cy="22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 RODADA 3 ---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3164129"/>
            <a:ext cx="5980176" cy="22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 bate em Bruno  (-4)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386125"/>
            <a:ext cx="5980176" cy="22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Bruno bate em Ana  (-2)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608121"/>
            <a:ext cx="5980176" cy="22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       ##############  14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3830117"/>
            <a:ext cx="5980176" cy="22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Bruno     ###########  11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399585"/>
            <a:ext cx="6309360" cy="1090879"/>
          </a:xfrm>
          <a:prstGeom prst="roundRect">
            <a:avLst>
              <a:gd name="adj" fmla="val 3353"/>
            </a:avLst>
          </a:prstGeom>
          <a:solidFill>
            <a:srgbClr val="F4F1F9"/>
          </a:solidFill>
          <a:ln w="9525">
            <a:solidFill>
              <a:srgbClr val="5C2D9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600753"/>
            <a:ext cx="310896" cy="310896"/>
          </a:xfrm>
          <a:prstGeom prst="ellipse">
            <a:avLst/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6007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07008" y="4564177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da noite: F5 depois de cada passo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07008" y="4820209"/>
            <a:ext cx="5440680" cy="578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8 passos. Ao fim de cada um o programa tem de rodar. Não siga para o próximo com o programa quebrado.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059168" y="1389888"/>
            <a:ext cx="4572000" cy="1477670"/>
          </a:xfrm>
          <a:prstGeom prst="roundRect">
            <a:avLst>
              <a:gd name="adj" fmla="val 3094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1591056"/>
            <a:ext cx="457200" cy="457200"/>
          </a:xfrm>
          <a:prstGeom prst="ellipse">
            <a:avLst/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96912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882128" y="1591056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barra é o coração da aula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96912" y="2139696"/>
            <a:ext cx="4096512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uma imagem: são tracinhos escritos um por um, e é o laço que escreve todos.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59168" y="3050438"/>
            <a:ext cx="4572000" cy="1477670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3251606"/>
            <a:ext cx="457200" cy="457200"/>
          </a:xfrm>
          <a:prstGeom prst="ellipse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25160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882128" y="3251606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tela, sem Designer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96912" y="3800246"/>
            <a:ext cx="4096512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é console: só texto. Sem banco e sem GitHub — roda na máquina, offline.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59168" y="4710989"/>
            <a:ext cx="4572000" cy="1477670"/>
          </a:xfrm>
          <a:prstGeom prst="roundRect">
            <a:avLst>
              <a:gd name="adj" fmla="val 3094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96912" y="4912157"/>
            <a:ext cx="457200" cy="457200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96912" y="491215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882128" y="4912157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conceito novo só: o for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96912" y="5460797"/>
            <a:ext cx="4096512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resto você já viu: classe, campos, métodos, new, if / else if e o break.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esta apostila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1106424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código aqui está inteiro — nada de reticências. Quando um passo mostra um método, mostra do começo ao fim, com as chaves.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168957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96973"/>
            <a:ext cx="45720" cy="310896"/>
          </a:xfrm>
          <a:prstGeom prst="rect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296973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com barra roxa = voce escreve agora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90488" y="2296973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784848" y="2296973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cinza e em italico = ja esta no arquivo, nao redigite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991917"/>
            <a:ext cx="5120640" cy="1203960"/>
          </a:xfrm>
          <a:prstGeom prst="roundRect">
            <a:avLst>
              <a:gd name="adj" fmla="val 4557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174797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3174797"/>
            <a:ext cx="45537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3384347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3384347"/>
            <a:ext cx="45537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" y="3593897"/>
            <a:ext cx="41148" cy="209550"/>
          </a:xfrm>
          <a:prstGeom prst="rect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593897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05840" y="3593897"/>
            <a:ext cx="45537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3803447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05840" y="3803447"/>
            <a:ext cx="45537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2991917"/>
            <a:ext cx="5779008" cy="1336853"/>
          </a:xfrm>
          <a:prstGeom prst="roundRect">
            <a:avLst>
              <a:gd name="adj" fmla="val 3420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3193085"/>
            <a:ext cx="5303520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exemplo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89904" y="3600907"/>
            <a:ext cx="53035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linhas cinzas já existem no arquivo. Só a linha com a barra roxa é o que você escreve.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584802"/>
            <a:ext cx="11064240" cy="1090879"/>
          </a:xfrm>
          <a:prstGeom prst="roundRect">
            <a:avLst>
              <a:gd name="adj" fmla="val 3353"/>
            </a:avLst>
          </a:prstGeom>
          <a:solidFill>
            <a:srgbClr val="FDF3E2"/>
          </a:solidFill>
          <a:ln w="9525">
            <a:solidFill>
              <a:srgbClr val="9C6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4785970"/>
            <a:ext cx="310896" cy="310896"/>
          </a:xfrm>
          <a:prstGeom prst="ellipse">
            <a:avLst/>
          </a:prstGeom>
          <a:solidFill>
            <a:srgbClr val="9C6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47859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07008" y="4749394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os textos do programa SEM acento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207008" y="5005426"/>
            <a:ext cx="10195560" cy="578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"nao", "voce", "comeca". O console do Windows troca acento por símbolo estranho, e isso atrapalha na hora de conferir a tela.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66928" y="5821985"/>
            <a:ext cx="11064240" cy="868680"/>
          </a:xfrm>
          <a:prstGeom prst="roundRect">
            <a:avLst>
              <a:gd name="adj" fmla="val 4211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" y="6023153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60231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07008" y="5986577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Errou de digitar? Ótimo — leia a mensagem vermelha até o fim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207008" y="6242609"/>
            <a:ext cx="10195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diz o arquivo, a linha e o que faltou. É o professor mais barato que existe.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8B5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896112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13258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classe Lutador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224528" y="2468880"/>
            <a:ext cx="7406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— abrir o projeto e rodar do jeito que ele veio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— os três campos: Nome, Vida e Forca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— criar os dois lutadores (e ver o primeiro erro)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ESCREVA NADA AINDA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Abra o projeto e rode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453896"/>
            <a:ext cx="256032" cy="2560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53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0976" y="1417320"/>
            <a:ext cx="6016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a pasta duelo-inicial que o professor entregou.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1856232"/>
            <a:ext cx="256032" cy="2560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856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50976" y="1819656"/>
            <a:ext cx="6016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dois cliques em Duelo.csproj — o Visual Studio abre.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258568"/>
            <a:ext cx="256032" cy="2560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50976" y="2221992"/>
            <a:ext cx="6016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Aperte F5.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2807208"/>
            <a:ext cx="6400800" cy="770636"/>
          </a:xfrm>
          <a:prstGeom prst="rect">
            <a:avLst/>
          </a:prstGeom>
          <a:solidFill>
            <a:srgbClr val="1C1C1C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2807208"/>
            <a:ext cx="6400800" cy="256032"/>
          </a:xfrm>
          <a:prstGeom prst="rect">
            <a:avLst/>
          </a:prstGeom>
          <a:solidFill>
            <a:srgbClr val="2E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807208"/>
            <a:ext cx="6181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Debug Console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209544"/>
            <a:ext cx="6071616" cy="22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Duelo - o projeto de hoje comeca aqui.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779012"/>
            <a:ext cx="6400800" cy="1325423"/>
          </a:xfrm>
          <a:prstGeom prst="roundRect">
            <a:avLst>
              <a:gd name="adj" fmla="val 2760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3980180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9801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07008" y="3943604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Apareceu essa frase? Então está tudo certo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07008" y="4199636"/>
            <a:ext cx="5532120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compila e roda. É o ponto de partida: daqui em diante, tudo o que aparecer nessa tela foi você que escreveu.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5269027"/>
            <a:ext cx="6400800" cy="1325423"/>
          </a:xfrm>
          <a:prstGeom prst="roundRect">
            <a:avLst>
              <a:gd name="adj" fmla="val 2760"/>
            </a:avLst>
          </a:prstGeom>
          <a:solidFill>
            <a:srgbClr val="FDF3E2"/>
          </a:solidFill>
          <a:ln w="9525">
            <a:solidFill>
              <a:srgbClr val="9C63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" y="5470195"/>
            <a:ext cx="310896" cy="310896"/>
          </a:xfrm>
          <a:prstGeom prst="ellipse">
            <a:avLst/>
          </a:prstGeom>
          <a:solidFill>
            <a:srgbClr val="9C6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54701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07008" y="5433619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pisca e some?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207008" y="5689651"/>
            <a:ext cx="5532120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pelo terminal de verdade, não pela janela de saída da IDE. O Console.ReadLine() da última linha é o que segura a tela aberta.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196328" y="1417320"/>
            <a:ext cx="4434840" cy="1545336"/>
          </a:xfrm>
          <a:prstGeom prst="roundRect">
            <a:avLst>
              <a:gd name="adj" fmla="val 2959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34072" y="1618488"/>
            <a:ext cx="3959352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tem na pasta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34072" y="2026310"/>
            <a:ext cx="395935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arquivos: Program.cs, que já roda, e Lutador.cs, que está vazio de propósito. Hoje você preenche os dois.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96328" y="3438144"/>
            <a:ext cx="4434840" cy="1623060"/>
          </a:xfrm>
          <a:prstGeom prst="roundRect">
            <a:avLst>
              <a:gd name="adj" fmla="val 3380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96328" y="3182112"/>
            <a:ext cx="4434840" cy="237744"/>
          </a:xfrm>
          <a:prstGeom prst="roundRect">
            <a:avLst>
              <a:gd name="adj" fmla="val 15385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06056" y="3182112"/>
            <a:ext cx="4215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Lutador.cs</a:t>
            </a:r>
            <a:pPr indent="0" marL="0">
              <a:buNone/>
            </a:pPr>
            <a:r>
              <a:rPr lang="en-US" sz="1050" dirty="0">
                <a:solidFill>
                  <a:srgbClr val="DC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ele veio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287768" y="3621024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635240" y="3621024"/>
            <a:ext cx="38679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Duelo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87768" y="3830574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635240" y="3830574"/>
            <a:ext cx="38679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87768" y="4040124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635240" y="4040124"/>
            <a:ext cx="38679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87768" y="4249674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635240" y="4249674"/>
            <a:ext cx="38679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87768" y="4459224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635240" y="4459224"/>
            <a:ext cx="38679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287768" y="4668774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635240" y="4668774"/>
            <a:ext cx="38679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196328" y="5262372"/>
            <a:ext cx="4434840" cy="1336853"/>
          </a:xfrm>
          <a:prstGeom prst="roundRect">
            <a:avLst>
              <a:gd name="adj" fmla="val 3420"/>
            </a:avLst>
          </a:prstGeom>
          <a:solidFill>
            <a:srgbClr val="FFFFFF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34072" y="5463540"/>
            <a:ext cx="3959352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classe vazia é um molde em branco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434072" y="5871362"/>
            <a:ext cx="3959352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já existe e já compila — só não descreve nada ainda. O passo 2 começa a preencher.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LUTADOR.CS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campos do lutador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389888"/>
            <a:ext cx="640080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lutador é feito de três coisas. Escreva as três dentro das chaves da classe.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351837"/>
            <a:ext cx="6400800" cy="1794510"/>
          </a:xfrm>
          <a:prstGeom prst="roundRect">
            <a:avLst>
              <a:gd name="adj" fmla="val 3057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095805"/>
            <a:ext cx="6400800" cy="237744"/>
          </a:xfrm>
          <a:prstGeom prst="roundRect">
            <a:avLst>
              <a:gd name="adj" fmla="val 15385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095805"/>
            <a:ext cx="6181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Lutador.cs</a:t>
            </a:r>
            <a:pPr indent="0" marL="0">
              <a:buNone/>
            </a:pPr>
            <a:r>
              <a:rPr lang="en-US" sz="1050" dirty="0">
                <a:solidFill>
                  <a:srgbClr val="DC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classe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2534717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534717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2772842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772842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" y="3010967"/>
            <a:ext cx="41148" cy="238125"/>
          </a:xfrm>
          <a:prstGeom prst="rect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010967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010967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" y="3249092"/>
            <a:ext cx="41148" cy="238125"/>
          </a:xfrm>
          <a:prstGeom prst="rect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249092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249092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" y="3487217"/>
            <a:ext cx="41148" cy="238125"/>
          </a:xfrm>
          <a:prstGeom prst="rect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487217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487217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Forca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" y="3725342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725342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402379"/>
            <a:ext cx="6400800" cy="1090879"/>
          </a:xfrm>
          <a:prstGeom prst="roundRect">
            <a:avLst>
              <a:gd name="adj" fmla="val 3353"/>
            </a:avLst>
          </a:prstGeom>
          <a:solidFill>
            <a:srgbClr val="F4F1F9"/>
          </a:solidFill>
          <a:ln w="9525">
            <a:solidFill>
              <a:srgbClr val="5C2D9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" y="4603547"/>
            <a:ext cx="310896" cy="310896"/>
          </a:xfrm>
          <a:prstGeom prst="ellipse">
            <a:avLst/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4603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07008" y="4566971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quer dizer "quem está de fora enxerga"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207008" y="4823003"/>
            <a:ext cx="5532120" cy="578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vai permitir o Program.cs escrever a.Nome = "Ana". Se fosse private, só a própria classe enxergaria.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66928" y="5657850"/>
            <a:ext cx="6400800" cy="512064"/>
          </a:xfrm>
          <a:prstGeom prst="roundRect">
            <a:avLst>
              <a:gd name="adj" fmla="val 10714"/>
            </a:avLst>
          </a:prstGeom>
          <a:solidFill>
            <a:srgbClr val="E6F4EE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944" y="5776722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" y="577672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335024" y="565785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agora.  </a:t>
            </a:r>
            <a:pPr indent="0" marL="0"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muda na tela — e está certo. Você descreveu o molde; ninguém criou lutador nenhum ainda.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96328" y="1389888"/>
          <a:ext cx="4434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46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 o quê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nome, para escrever na tela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quantos tracinhos ele ainda 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máximo que tira por golpe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7196328" y="3291840"/>
            <a:ext cx="4434840" cy="1336853"/>
          </a:xfrm>
          <a:prstGeom prst="roundRect">
            <a:avLst>
              <a:gd name="adj" fmla="val 3420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34072" y="3493008"/>
            <a:ext cx="3959352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= 20 é o valor de partida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7434072" y="3900830"/>
            <a:ext cx="3959352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lutador nasce com 20 de vida e 5 de força. Dá para trocar depois, lutador por lutador.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7196328" y="4811573"/>
            <a:ext cx="4434840" cy="1545336"/>
          </a:xfrm>
          <a:prstGeom prst="roundRect">
            <a:avLst>
              <a:gd name="adj" fmla="val 2959"/>
            </a:avLst>
          </a:prstGeom>
          <a:solidFill>
            <a:srgbClr val="FFFFFF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34072" y="5012741"/>
            <a:ext cx="3959352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Forca sem cedilha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434072" y="5420563"/>
            <a:ext cx="395935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de campo em C# não leva acento nem cedilha. Escreva Forca — é o nome que o resto do programa vai procurar.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· ESTE PASSO DÁ ERRO DE PROPÓSITO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Crie os dois lutadores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64208"/>
            <a:ext cx="6400800" cy="3337560"/>
          </a:xfrm>
          <a:prstGeom prst="roundRect">
            <a:avLst>
              <a:gd name="adj" fmla="val 1644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08176"/>
            <a:ext cx="6400800" cy="237744"/>
          </a:xfrm>
          <a:prstGeom prst="roundRect">
            <a:avLst>
              <a:gd name="adj" fmla="val 15385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408176"/>
            <a:ext cx="6181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pPr indent="0" marL="0">
              <a:buNone/>
            </a:pPr>
            <a:r>
              <a:rPr lang="en-US" sz="1050" dirty="0">
                <a:solidFill>
                  <a:srgbClr val="DC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Main, no lugar do WriteLine antigo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18470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18470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2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2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0756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20756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" y="2304288"/>
            <a:ext cx="41148" cy="228600"/>
          </a:xfrm>
          <a:prstGeom prst="rect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3042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23042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" y="2532888"/>
            <a:ext cx="41148" cy="228600"/>
          </a:xfrm>
          <a:prstGeom prst="rect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5328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5840" y="25328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27614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" y="2990088"/>
            <a:ext cx="41148" cy="228600"/>
          </a:xfrm>
          <a:prstGeom prst="rect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9900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29900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" y="3218688"/>
            <a:ext cx="41148" cy="228600"/>
          </a:xfrm>
          <a:prstGeom prst="rect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2186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5840" y="32186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"Bruno"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" y="34472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" y="3675888"/>
            <a:ext cx="41148" cy="228600"/>
          </a:xfrm>
          <a:prstGeom prst="rect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6758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5840" y="36758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MostrarBarra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" y="3904488"/>
            <a:ext cx="41148" cy="228600"/>
          </a:xfrm>
          <a:prstGeom prst="rect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39044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5840" y="39044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MostrarBarra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" y="41330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368" y="43616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05840" y="43616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2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ReadLine</a:t>
            </a:r>
            <a:pPr indent="0" marL="0">
              <a:buNone/>
            </a:pPr>
            <a:r>
              <a:rPr lang="en-US" sz="12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8368" y="45902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05840" y="45902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" y="5239512"/>
            <a:ext cx="6400800" cy="1325423"/>
          </a:xfrm>
          <a:prstGeom prst="roundRect">
            <a:avLst>
              <a:gd name="adj" fmla="val 2760"/>
            </a:avLst>
          </a:prstGeom>
          <a:solidFill>
            <a:srgbClr val="F4F1F9"/>
          </a:solidFill>
          <a:ln w="9525">
            <a:solidFill>
              <a:srgbClr val="5C2D9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" y="5440680"/>
            <a:ext cx="310896" cy="310896"/>
          </a:xfrm>
          <a:prstGeom prst="ellipse">
            <a:avLst/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207008" y="5404104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o que o compilador está dizendo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1207008" y="5660136"/>
            <a:ext cx="5532120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"Você me pediu MostrarBarra, fui procurar dentro da classe Lutador e não achei." Ele está certo: esse método ainda não existe. É o passo 4.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7196328" y="1664208"/>
            <a:ext cx="4434840" cy="1545336"/>
          </a:xfrm>
          <a:prstGeom prst="roundRect">
            <a:avLst>
              <a:gd name="adj" fmla="val 2959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34072" y="1865376"/>
            <a:ext cx="3959352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Lutador() constrói um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434072" y="2273198"/>
            <a:ext cx="395935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é o molde; o new faz uma peça a partir dele. Dois new, dois lutadores independentes: mexer no a não mexe no b.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196328" y="3410712"/>
            <a:ext cx="4434840" cy="1325423"/>
          </a:xfrm>
          <a:prstGeom prst="roundRect">
            <a:avLst>
              <a:gd name="adj" fmla="val 2760"/>
            </a:avLst>
          </a:prstGeom>
          <a:solidFill>
            <a:srgbClr val="FBEBEE"/>
          </a:solidFill>
          <a:ln w="9525">
            <a:solidFill>
              <a:srgbClr val="B02A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97496" y="3611880"/>
            <a:ext cx="310896" cy="310896"/>
          </a:xfrm>
          <a:prstGeom prst="ellipse">
            <a:avLst/>
          </a:prstGeom>
          <a:solidFill>
            <a:srgbClr val="B02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97496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836408" y="35753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passo NÃO vai compilar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7836408" y="3831336"/>
            <a:ext cx="3566160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de propósito. Aperte F5 assim mesmo e leia a mensagem — ela é a lição deste passo.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7196328" y="4919015"/>
            <a:ext cx="4434840" cy="765810"/>
          </a:xfrm>
          <a:prstGeom prst="roundRect">
            <a:avLst>
              <a:gd name="adj" fmla="val 7164"/>
            </a:avLst>
          </a:prstGeom>
          <a:solidFill>
            <a:srgbClr val="FBEBEE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24344" y="5101895"/>
            <a:ext cx="41788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CS1061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nao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contem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324344" y="5301920"/>
            <a:ext cx="41788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definicao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MostrarBarra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196328" y="5904281"/>
            <a:ext cx="44348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a ideia: para chamar um método, ele precisa existir dentro da classe. Sempre.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8B5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896112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13258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for — o assunto da noite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224528" y="2468880"/>
            <a:ext cx="7406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— a barra, ainda sem laço nenhum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dor: escrever a mesma linha vinte vezes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— o for que desenha a barra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LUTADOR.CS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barra, do jeito mais burro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389888"/>
            <a:ext cx="640080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laço, faça funcionar sem ele. Escreva este método dentro da classe Lutador, depois dos três campos.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351837"/>
            <a:ext cx="6400800" cy="1556385"/>
          </a:xfrm>
          <a:prstGeom prst="roundRect">
            <a:avLst>
              <a:gd name="adj" fmla="val 3525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095805"/>
            <a:ext cx="6400800" cy="237744"/>
          </a:xfrm>
          <a:prstGeom prst="roundRect">
            <a:avLst>
              <a:gd name="adj" fmla="val 15385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095805"/>
            <a:ext cx="6181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Lutador.cs</a:t>
            </a:r>
            <a:pPr indent="0" marL="0">
              <a:buNone/>
            </a:pPr>
            <a:r>
              <a:rPr lang="en-US" sz="1050" dirty="0">
                <a:solidFill>
                  <a:srgbClr val="DC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classe, depois dos campos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2534717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534717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MostrarBarra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2772842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772842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3010967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010967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PadRight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" y="3249092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249092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"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3487217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487217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164254"/>
            <a:ext cx="6400800" cy="1325423"/>
          </a:xfrm>
          <a:prstGeom prst="roundRect">
            <a:avLst>
              <a:gd name="adj" fmla="val 2760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4365422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43654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4328846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escrever o método, e por que o erro sumiu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07008" y="4584878"/>
            <a:ext cx="5532120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das chaves da classe, e fora das chaves de qualquer outro método — um método nunca mora dentro de outro. O erro do passo 3 some sozinho: era só isso que faltava.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5654269"/>
            <a:ext cx="6400800" cy="512064"/>
          </a:xfrm>
          <a:prstGeom prst="roundRect">
            <a:avLst>
              <a:gd name="adj" fmla="val 10714"/>
            </a:avLst>
          </a:prstGeom>
          <a:solidFill>
            <a:srgbClr val="E6F4EE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" y="5773141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5773141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35024" y="5654269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agora.  </a:t>
            </a:r>
            <a:pPr indent="0" marL="0"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nomes aparecem com o 20 ao lado. Falta a barra — e é ela que vai puxar o laço.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96328" y="1389888"/>
            <a:ext cx="4434840" cy="992632"/>
          </a:xfrm>
          <a:prstGeom prst="rect">
            <a:avLst/>
          </a:prstGeom>
          <a:solidFill>
            <a:srgbClr val="1C1C1C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96328" y="1389888"/>
            <a:ext cx="4434840" cy="256032"/>
          </a:xfrm>
          <a:prstGeom prst="rect">
            <a:avLst/>
          </a:prstGeom>
          <a:solidFill>
            <a:srgbClr val="2E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06056" y="1389888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Debug Console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60920" y="1792224"/>
            <a:ext cx="4105656" cy="22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          20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360920" y="2014220"/>
            <a:ext cx="4105656" cy="22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Bruno        20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196328" y="2583688"/>
            <a:ext cx="4434840" cy="1545336"/>
          </a:xfrm>
          <a:prstGeom prst="roundRect">
            <a:avLst>
              <a:gd name="adj" fmla="val 2959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34072" y="2784856"/>
            <a:ext cx="3959352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PadRight(10) alinha a coluna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34072" y="3192678"/>
            <a:ext cx="395935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o nome com espaços até dar 10 caracteres. É o que faz as barras começarem todas na mesma altura.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196328" y="4311904"/>
            <a:ext cx="4434840" cy="1545336"/>
          </a:xfrm>
          <a:prstGeom prst="roundRect">
            <a:avLst>
              <a:gd name="adj" fmla="val 2959"/>
            </a:avLst>
          </a:prstGeom>
          <a:solidFill>
            <a:srgbClr val="FFFFFF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34072" y="4513072"/>
            <a:ext cx="3959352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× WriteLine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34072" y="4920894"/>
            <a:ext cx="395935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escreve e fica na mesma linha. WriteLine escreve e pula linha. Por isso o nome e o número saem juntos.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E PENSE ANTES DE VIRAR A PÁGINA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eu quero 20 tracinhos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512064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barra é um # para cada ponto de vida. Sem laço, o jeito é escrever na mão: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132381"/>
            <a:ext cx="5120640" cy="2556510"/>
          </a:xfrm>
          <a:prstGeom prst="roundRect">
            <a:avLst>
              <a:gd name="adj" fmla="val 2146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315261"/>
            <a:ext cx="48646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4944" y="2534336"/>
            <a:ext cx="48646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4944" y="2753411"/>
            <a:ext cx="48646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94944" y="2972486"/>
            <a:ext cx="48646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94944" y="3191561"/>
            <a:ext cx="48646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4944" y="3410636"/>
            <a:ext cx="48646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4944" y="3629711"/>
            <a:ext cx="48646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4944" y="3848786"/>
            <a:ext cx="48646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94944" y="4067861"/>
            <a:ext cx="48646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</a:t>
            </a:r>
            <a:pPr indent="0" marL="0">
              <a:buNone/>
            </a:pPr>
            <a:r>
              <a:rPr lang="en-US" sz="11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4944" y="4286936"/>
            <a:ext cx="48646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e mais onze vezes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4999787"/>
            <a:ext cx="51206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5C2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Repetir linha é sinal de que falta um laço. Sempre.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66928" y="5791657"/>
            <a:ext cx="512064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o único conceito realmente novo de hoje. O resto da noite é usar ele.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1389888"/>
            <a:ext cx="5687568" cy="1171804"/>
          </a:xfrm>
          <a:prstGeom prst="roundRect">
            <a:avLst>
              <a:gd name="adj" fmla="val 3902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1591056"/>
            <a:ext cx="5212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a vida for 7?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81344" y="2016252"/>
            <a:ext cx="5212080" cy="3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apaga treze linhas.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943600" y="2707996"/>
            <a:ext cx="5687568" cy="1171804"/>
          </a:xfrm>
          <a:prstGeom prst="roundRect">
            <a:avLst>
              <a:gd name="adj" fmla="val 3902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2909164"/>
            <a:ext cx="5212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for 30?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81344" y="3334360"/>
            <a:ext cx="5212080" cy="3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escreve mais dez.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026103"/>
            <a:ext cx="5687568" cy="1406347"/>
          </a:xfrm>
          <a:prstGeom prst="roundRect">
            <a:avLst>
              <a:gd name="adj" fmla="val 3251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4227271"/>
            <a:ext cx="5212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mudar enquanto o jogo roda?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81344" y="4652467"/>
            <a:ext cx="5212080" cy="578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 não tem jeito nenhum: você não sabe o número na hora em que escreve o programa. E é sempre esse o caso.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943600" y="5633618"/>
            <a:ext cx="5687568" cy="1090879"/>
          </a:xfrm>
          <a:prstGeom prst="roundRect">
            <a:avLst>
              <a:gd name="adj" fmla="val 3353"/>
            </a:avLst>
          </a:prstGeom>
          <a:solidFill>
            <a:srgbClr val="F4F1F9"/>
          </a:solidFill>
          <a:ln w="9525">
            <a:solidFill>
              <a:srgbClr val="5C2D9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4768" y="5834786"/>
            <a:ext cx="310896" cy="310896"/>
          </a:xfrm>
          <a:prstGeom prst="ellipse">
            <a:avLst/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58347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83680" y="5798210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esse o problema que o for resolve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583680" y="6054242"/>
            <a:ext cx="4818888" cy="578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a mesma coisa um número de vezes que só se descobre quando o programa já está rodando.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MOLDE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for tem três partes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64240" cy="651510"/>
          </a:xfrm>
          <a:prstGeom prst="roundRect">
            <a:avLst>
              <a:gd name="adj" fmla="val 8421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600200"/>
            <a:ext cx="108082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5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50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5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88720" y="2452878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45287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começa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2452878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45287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quando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452878"/>
            <a:ext cx="2377440" cy="274320"/>
          </a:xfrm>
          <a:prstGeom prst="roundRect">
            <a:avLst>
              <a:gd name="adj" fmla="val 26667"/>
            </a:avLst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45287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quanto em quanto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flipH="1" flipV="1">
            <a:off x="1920240" y="2087118"/>
            <a:ext cx="320040" cy="365760"/>
          </a:xfrm>
          <a:prstGeom prst="line">
            <a:avLst/>
          </a:prstGeom>
          <a:noFill/>
          <a:ln w="19050">
            <a:solidFill>
              <a:srgbClr val="5C2D9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 flipH="1" flipV="1">
            <a:off x="3429000" y="2087118"/>
            <a:ext cx="1234440" cy="365760"/>
          </a:xfrm>
          <a:prstGeom prst="line">
            <a:avLst/>
          </a:prstGeom>
          <a:noFill/>
          <a:ln w="19050">
            <a:solidFill>
              <a:srgbClr val="5C2D9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 flipH="1" flipV="1">
            <a:off x="4892040" y="2087118"/>
            <a:ext cx="2331720" cy="365760"/>
          </a:xfrm>
          <a:prstGeom prst="line">
            <a:avLst/>
          </a:prstGeom>
          <a:noFill/>
          <a:ln w="19050">
            <a:solidFill>
              <a:srgbClr val="5C2D91"/>
            </a:solidFill>
            <a:prstDash val="solid"/>
            <a:headEnd type="none"/>
            <a:tailEnd type="triangle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01980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6492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exemplo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 dizer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começa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i =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 um contador chamado i, valendo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quando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&lt; Vida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enquanto isso for verdade, faz mais uma volta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quanto em quanto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i++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fim de cada volta, soma 1 no 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66928" y="4775454"/>
            <a:ext cx="11064240" cy="868680"/>
          </a:xfrm>
          <a:prstGeom prst="roundRect">
            <a:avLst>
              <a:gd name="adj" fmla="val 4211"/>
            </a:avLst>
          </a:prstGeom>
          <a:solidFill>
            <a:srgbClr val="F4F1F9"/>
          </a:solidFill>
          <a:ln w="9525">
            <a:solidFill>
              <a:srgbClr val="5C2D9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" y="4976622"/>
            <a:ext cx="310896" cy="310896"/>
          </a:xfrm>
          <a:prstGeom prst="ellipse">
            <a:avLst/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" y="49766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07008" y="4940046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i++ é só um jeito curto de escrever i = i + 1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207008" y="5196078"/>
            <a:ext cx="10195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vai encontrar os dois por aí. São a mesma coisa.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66928" y="5808726"/>
            <a:ext cx="11064240" cy="868680"/>
          </a:xfrm>
          <a:prstGeom prst="roundRect">
            <a:avLst>
              <a:gd name="adj" fmla="val 4211"/>
            </a:avLst>
          </a:prstGeom>
          <a:solidFill>
            <a:srgbClr val="FDF3E2"/>
          </a:solidFill>
          <a:ln w="9525">
            <a:solidFill>
              <a:srgbClr val="9C63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" y="6009894"/>
            <a:ext cx="310896" cy="310896"/>
          </a:xfrm>
          <a:prstGeom prst="ellipse">
            <a:avLst/>
          </a:prstGeom>
          <a:solidFill>
            <a:srgbClr val="9C6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8096" y="60098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07008" y="5973318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pontos-e-vírgulas dentro do parênteses não são erro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1207008" y="6229350"/>
            <a:ext cx="10195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Eles separam as três partes — é a única vez em C# que isso acontece.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LUTADOR.CS · O MOMENTO DA AULA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for que desenha a barra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64208"/>
            <a:ext cx="6400800" cy="2985135"/>
          </a:xfrm>
          <a:prstGeom prst="roundRect">
            <a:avLst>
              <a:gd name="adj" fmla="val 1838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08176"/>
            <a:ext cx="6400800" cy="237744"/>
          </a:xfrm>
          <a:prstGeom prst="roundRect">
            <a:avLst>
              <a:gd name="adj" fmla="val 15385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408176"/>
            <a:ext cx="6181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Lutador.cs</a:t>
            </a:r>
            <a:pPr indent="0" marL="0">
              <a:buNone/>
            </a:pPr>
            <a:r>
              <a:rPr lang="en-US" sz="1050" dirty="0">
                <a:solidFill>
                  <a:srgbClr val="DC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MostrarBarra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1847088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847088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MostrarBarra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2085213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085213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" y="2323338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323338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PadRight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2561463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" y="2799588"/>
            <a:ext cx="41148" cy="238125"/>
          </a:xfrm>
          <a:prstGeom prst="rect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799588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799588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" y="3037713"/>
            <a:ext cx="41148" cy="238125"/>
          </a:xfrm>
          <a:prstGeom prst="rect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037713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037713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2648" y="3275838"/>
            <a:ext cx="41148" cy="238125"/>
          </a:xfrm>
          <a:prstGeom prst="rect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275838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275838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2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2648" y="3513963"/>
            <a:ext cx="41148" cy="238125"/>
          </a:xfrm>
          <a:prstGeom prst="rect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513963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3513963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8368" y="3752088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" y="3990213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3990213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"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" y="4228338"/>
            <a:ext cx="256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4228338"/>
            <a:ext cx="5833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66928" y="4887087"/>
            <a:ext cx="6400800" cy="512064"/>
          </a:xfrm>
          <a:prstGeom prst="roundRect">
            <a:avLst>
              <a:gd name="adj" fmla="val 10714"/>
            </a:avLst>
          </a:prstGeom>
          <a:solidFill>
            <a:srgbClr val="E6F4EE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" y="5005959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5005959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335024" y="4887087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agora.  </a:t>
            </a:r>
            <a:pPr indent="0" marL="0"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barras cheias aparecem. É o primeiro laço de repetição que você escreve na vida.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928" y="5563743"/>
            <a:ext cx="6400800" cy="1090879"/>
          </a:xfrm>
          <a:prstGeom prst="roundRect">
            <a:avLst>
              <a:gd name="adj" fmla="val 3353"/>
            </a:avLst>
          </a:prstGeom>
          <a:solidFill>
            <a:srgbClr val="FDF3E2"/>
          </a:solidFill>
          <a:ln w="9525">
            <a:solidFill>
              <a:srgbClr val="9C63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" y="5764911"/>
            <a:ext cx="310896" cy="310896"/>
          </a:xfrm>
          <a:prstGeom prst="ellipse">
            <a:avLst/>
          </a:prstGeom>
          <a:solidFill>
            <a:srgbClr val="9C6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" y="57649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207008" y="5728335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deixe o Nome dentro do for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1207008" y="5984367"/>
            <a:ext cx="5532120" cy="578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entre as chaves se repete. Se o Console.Write(Nome...) entrar nelas, o nome sai vinte vezes.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7196328" y="1664208"/>
            <a:ext cx="4434840" cy="915416"/>
          </a:xfrm>
          <a:prstGeom prst="rect">
            <a:avLst/>
          </a:prstGeom>
          <a:solidFill>
            <a:srgbClr val="1C1C1C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96328" y="1664208"/>
            <a:ext cx="4434840" cy="256032"/>
          </a:xfrm>
          <a:prstGeom prst="rect">
            <a:avLst/>
          </a:prstGeom>
          <a:solidFill>
            <a:srgbClr val="2E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06056" y="1664208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Debug Console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60920" y="2066544"/>
            <a:ext cx="4105656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       ####################  20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360920" y="2249932"/>
            <a:ext cx="4105656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Bruno     ####################  20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196328" y="2780792"/>
            <a:ext cx="4434840" cy="1753819"/>
          </a:xfrm>
          <a:prstGeom prst="roundRect">
            <a:avLst>
              <a:gd name="adj" fmla="val 2607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34072" y="2981960"/>
            <a:ext cx="3959352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linhas, e a barra existe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434072" y="3389782"/>
            <a:ext cx="3959352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Repare: em lugar nenhum está escrito o número 20. O laço pergunta a Vida na hora de rodar — por isso a barra vai encolher sozinha quando ela cair.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196328" y="4717491"/>
            <a:ext cx="4434840" cy="1545336"/>
          </a:xfrm>
          <a:prstGeom prst="roundRect">
            <a:avLst>
              <a:gd name="adj" fmla="val 2959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34072" y="4918659"/>
            <a:ext cx="3959352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Brinque antes de seguir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434072" y="5326482"/>
            <a:ext cx="395935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o = 20 do campo Vida por 5, depois por 30. Rode as duas vezes: a barra muda de tamanho sem você tocar no for.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CONFERIR SE VOCÊ ENTENDEU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 por volta, com Vida = 5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768096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o contador i e o que já foi escrito na tela. É assim que se lê um laço.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50669"/>
          <a:ext cx="76809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737360"/>
                <a:gridCol w="137160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vale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&lt; 5 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escreve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tela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1ª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2ª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3ª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###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4ª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####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5ª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#####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— para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#####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412480" y="1389888"/>
            <a:ext cx="3218688" cy="1997050"/>
          </a:xfrm>
          <a:prstGeom prst="roundRect">
            <a:avLst>
              <a:gd name="adj" fmla="val 2289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50224" y="1591056"/>
            <a:ext cx="274320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tracinhos, e o i nunca chegou a 5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50224" y="2242109"/>
            <a:ext cx="27432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testa ANTES de cada volta. Quando o i vira 5, o teste dá falso e ele para sem escrever nada.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412480" y="3569818"/>
            <a:ext cx="3218688" cy="1962302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50224" y="3770986"/>
            <a:ext cx="2743200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começa em 0?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50224" y="4178808"/>
            <a:ext cx="2743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Poderia começar em 1 e ir até i &lt;= 5: dá o mesmo. Mas em C# quase tudo se conta a partir de zero, e amanhã isso vai importar.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5715000"/>
            <a:ext cx="11064240" cy="1090879"/>
          </a:xfrm>
          <a:prstGeom prst="roundRect">
            <a:avLst>
              <a:gd name="adj" fmla="val 3353"/>
            </a:avLst>
          </a:prstGeom>
          <a:solidFill>
            <a:srgbClr val="FBEBEE"/>
          </a:solidFill>
          <a:ln w="9525">
            <a:solidFill>
              <a:srgbClr val="B02A3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8096" y="5916168"/>
            <a:ext cx="310896" cy="310896"/>
          </a:xfrm>
          <a:prstGeom prst="ellipse">
            <a:avLst/>
          </a:prstGeom>
          <a:solidFill>
            <a:srgbClr val="B02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5916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07008" y="5879592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que quase todo mundo comete: &lt; ou &lt;= 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207008" y="6135624"/>
            <a:ext cx="10195560" cy="578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escrever i &lt;= Vida, sai um # a MAIS do que a vida. Se acontecer, não apague nada de imediato: conte os tracinhos na tela e compare com o número ao lado. É o jeito de nunca mais esquecer.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8B5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896112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13258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duelo acontece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224528" y="2468880"/>
            <a:ext cx="7406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6 — o método Atacar, e o sorteio do dano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7 — o for das rodadas, e o break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8 — quem venceu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LUTADOR.CS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golpe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64208"/>
            <a:ext cx="6949440" cy="3089910"/>
          </a:xfrm>
          <a:prstGeom prst="roundRect">
            <a:avLst>
              <a:gd name="adj" fmla="val 1776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08176"/>
            <a:ext cx="6949440" cy="237744"/>
          </a:xfrm>
          <a:prstGeom prst="roundRect">
            <a:avLst>
              <a:gd name="adj" fmla="val 15385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408176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Lutador.cs</a:t>
            </a:r>
            <a:pPr indent="0" marL="0">
              <a:buNone/>
            </a:pPr>
            <a:r>
              <a:rPr lang="en-US" sz="1050" dirty="0">
                <a:solidFill>
                  <a:srgbClr val="DC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classe, depois do MostrarBarra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184708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184708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Atacar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sorteio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05663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05663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26618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226618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sorteio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247573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" y="268528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05840" y="268528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289483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" y="310438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05840" y="310438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331393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05840" y="331393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352348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05840" y="352348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373303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05840" y="373303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" y="394258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8368" y="415213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05840" y="415213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bate em "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(-"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")"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" y="436168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05840" y="436168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4991862"/>
            <a:ext cx="6949440" cy="1090879"/>
          </a:xfrm>
          <a:prstGeom prst="roundRect">
            <a:avLst>
              <a:gd name="adj" fmla="val 3353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8096" y="5193030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" y="51930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207008" y="5156454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único conceito novo além do for — e leva um minuto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207008" y="5412486"/>
            <a:ext cx="6080760" cy="578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é o dado do jogo. Ele já vem criado na primeira linha do Main: Random sorteio = new Random();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66928" y="6247333"/>
            <a:ext cx="69494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muda na tela ainda: ninguém chamou o Atacar. É o próximo passo.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699248" y="1664208"/>
            <a:ext cx="3931920" cy="1545336"/>
          </a:xfrm>
          <a:prstGeom prst="roundRect">
            <a:avLst>
              <a:gd name="adj" fmla="val 2959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36992" y="1865376"/>
            <a:ext cx="3456432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entra nos parênteses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936992" y="2273198"/>
            <a:ext cx="345643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é quem apanha. sorteio é o dado, que vem de fora — para o jogo inteiro usar o mesmo.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699248" y="3392424"/>
            <a:ext cx="3931920" cy="1753819"/>
          </a:xfrm>
          <a:prstGeom prst="roundRect">
            <a:avLst>
              <a:gd name="adj" fmla="val 2607"/>
            </a:avLst>
          </a:prstGeom>
          <a:solidFill>
            <a:srgbClr val="FFFFFF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36992" y="3593592"/>
            <a:ext cx="3456432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Next(1, Forca + 1)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936992" y="4001414"/>
            <a:ext cx="3456432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 de 1 até Forca. O segundo número fica de fora do sorteio, e é por isso que tem o + 1. Com Forca = 5, sai de 1 a 5.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699248" y="5329123"/>
            <a:ext cx="3931920" cy="1336853"/>
          </a:xfrm>
          <a:prstGeom prst="roundRect">
            <a:avLst>
              <a:gd name="adj" fmla="val 3420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36992" y="5530291"/>
            <a:ext cx="3456432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vida nunca fica negativa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936992" y="5938114"/>
            <a:ext cx="3456432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o if faz. Sem ele, a barra some e o número na tela vira -3.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· O DUELO INTEIRO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for das rodadas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64208"/>
            <a:ext cx="6949440" cy="3718560"/>
          </a:xfrm>
          <a:prstGeom prst="roundRect">
            <a:avLst>
              <a:gd name="adj" fmla="val 1475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08176"/>
            <a:ext cx="6949440" cy="237744"/>
          </a:xfrm>
          <a:prstGeom prst="roundRect">
            <a:avLst>
              <a:gd name="adj" fmla="val 15385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408176"/>
            <a:ext cx="672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pPr indent="0" marL="0">
              <a:buNone/>
            </a:pPr>
            <a:r>
              <a:rPr lang="en-US" sz="1050" dirty="0">
                <a:solidFill>
                  <a:srgbClr val="DC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lugar das duas chamadas de MostrarBarra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184708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184708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05663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05663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26618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226618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"--- RODADA "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---"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247573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" y="268528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05840" y="268528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Atacar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sorteio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289483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05840" y="289483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Atacar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sorteio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310438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" y="331393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05840" y="331393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MostrarBarra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352348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05840" y="352348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MostrarBarra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373303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05840" y="373303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" y="394258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8368" y="415213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05840" y="415213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" y="436168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05840" y="436168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" y="457123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05840" y="457123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" y="478078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05840" y="478078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" y="4990338"/>
            <a:ext cx="256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05840" y="4990338"/>
            <a:ext cx="638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" y="5602224"/>
            <a:ext cx="6949440" cy="512064"/>
          </a:xfrm>
          <a:prstGeom prst="roundRect">
            <a:avLst>
              <a:gd name="adj" fmla="val 10714"/>
            </a:avLst>
          </a:prstGeom>
          <a:solidFill>
            <a:srgbClr val="E6F4EE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" y="5721096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" y="57210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335024" y="5602224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agora.  </a:t>
            </a:r>
            <a:pPr indent="0" marL="0"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duelo acontece: as barras encolhem rodada a rodada até alguém zerar.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699248" y="1664208"/>
            <a:ext cx="3931920" cy="1545336"/>
          </a:xfrm>
          <a:prstGeom prst="roundRect">
            <a:avLst>
              <a:gd name="adj" fmla="val 2959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36992" y="1865376"/>
            <a:ext cx="3456432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mesmo for do passo 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936992" y="2273198"/>
            <a:ext cx="345643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Mudou só o que ele repete. Lá dentro das chaves ia um tracinho; aqui vai uma rodada inteira do duelo.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699248" y="3392424"/>
            <a:ext cx="3931920" cy="1545336"/>
          </a:xfrm>
          <a:prstGeom prst="roundRect">
            <a:avLst>
              <a:gd name="adj" fmla="val 2959"/>
            </a:avLst>
          </a:prstGeom>
          <a:solidFill>
            <a:srgbClr val="FFFFFF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36992" y="3593592"/>
            <a:ext cx="3456432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break: sai do laço na hora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936992" y="4001414"/>
            <a:ext cx="345643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mesmo break do switch da aula passada. Aqui ele corta o duelo assim que alguém zera.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699248" y="5120640"/>
            <a:ext cx="3931920" cy="1325423"/>
          </a:xfrm>
          <a:prstGeom prst="roundRect">
            <a:avLst>
              <a:gd name="adj" fmla="val 2760"/>
            </a:avLst>
          </a:prstGeom>
          <a:solidFill>
            <a:srgbClr val="FDF3E2"/>
          </a:solidFill>
          <a:ln w="9525">
            <a:solidFill>
              <a:srgbClr val="9C63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00416" y="5321808"/>
            <a:ext cx="310896" cy="310896"/>
          </a:xfrm>
          <a:prstGeom prst="ellipse">
            <a:avLst/>
          </a:prstGeom>
          <a:solidFill>
            <a:srgbClr val="9C6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00416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339328" y="52852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20 rodadas são trava de segurança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8339328" y="5541264"/>
            <a:ext cx="3063240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break falhar, o laço para sozinho na vigésima volta em vez de rodar para sempre.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· DEPOIS DO FOR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venceu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64208"/>
            <a:ext cx="6400800" cy="3108960"/>
          </a:xfrm>
          <a:prstGeom prst="roundRect">
            <a:avLst>
              <a:gd name="adj" fmla="val 1765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08176"/>
            <a:ext cx="6400800" cy="237744"/>
          </a:xfrm>
          <a:prstGeom prst="roundRect">
            <a:avLst>
              <a:gd name="adj" fmla="val 15385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408176"/>
            <a:ext cx="6181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pPr indent="0" marL="0">
              <a:buNone/>
            </a:pPr>
            <a:r>
              <a:rPr lang="en-US" sz="1050" dirty="0">
                <a:solidFill>
                  <a:srgbClr val="DC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da chave que fecha o for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18470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18470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0756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20756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23042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23042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"VENCEU: "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25328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" y="25328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27614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5840" y="27614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29900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29900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32186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32186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"VENCEU: "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34472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5840" y="34472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" y="36758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05840" y="36758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" y="39044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5840" y="39044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" y="41330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05840" y="41330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2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"EMPATE!"</a:t>
            </a:r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" y="43616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5840" y="4361688"/>
            <a:ext cx="583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5010912"/>
            <a:ext cx="6400800" cy="512064"/>
          </a:xfrm>
          <a:prstGeom prst="roundRect">
            <a:avLst>
              <a:gd name="adj" fmla="val 10714"/>
            </a:avLst>
          </a:prstGeom>
          <a:solidFill>
            <a:srgbClr val="E6F4EE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" y="5129784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512978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335024" y="5010912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agora.  </a:t>
            </a:r>
            <a:pPr indent="0" marL="0"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duelo roda do começo ao fim e sai o nome do campeão. Acabou: o programa é seu.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5687568"/>
            <a:ext cx="64008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três, quatro vezes seguidas. O resultado muda a cada vez — é o sorteio do dano trabalhando.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196328" y="1664208"/>
            <a:ext cx="4434840" cy="1899920"/>
          </a:xfrm>
          <a:prstGeom prst="rect">
            <a:avLst/>
          </a:prstGeom>
          <a:solidFill>
            <a:srgbClr val="1C1C1C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96328" y="1664208"/>
            <a:ext cx="4434840" cy="256032"/>
          </a:xfrm>
          <a:prstGeom prst="rect">
            <a:avLst/>
          </a:prstGeom>
          <a:solidFill>
            <a:srgbClr val="2E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06056" y="1664208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Debug Console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60920" y="2066544"/>
            <a:ext cx="4105656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 RODADA 7 ---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60920" y="2259584"/>
            <a:ext cx="4105656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 bate em Bruno  (-5)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60920" y="2452624"/>
            <a:ext cx="4105656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Bruno bate em Ana  (-2)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60920" y="2645664"/>
            <a:ext cx="4105656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       ####  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60920" y="2838704"/>
            <a:ext cx="4105656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Bruno       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60920" y="3031744"/>
            <a:ext cx="4105656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60920" y="3224784"/>
            <a:ext cx="4105656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VENCEU: Ana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196328" y="3765296"/>
            <a:ext cx="4434840" cy="1325423"/>
          </a:xfrm>
          <a:prstGeom prst="roundRect">
            <a:avLst>
              <a:gd name="adj" fmla="val 2760"/>
            </a:avLst>
          </a:prstGeom>
          <a:solidFill>
            <a:srgbClr val="FBEBEE"/>
          </a:solidFill>
          <a:ln w="9525">
            <a:solidFill>
              <a:srgbClr val="B02A3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97496" y="3966464"/>
            <a:ext cx="310896" cy="310896"/>
          </a:xfrm>
          <a:prstGeom prst="ellipse">
            <a:avLst/>
          </a:prstGeom>
          <a:solidFill>
            <a:srgbClr val="B02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97496" y="396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7836408" y="3929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for, e não dentro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7836408" y="4185920"/>
            <a:ext cx="3566160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este if entrar nas chaves do laço, o vencedor é anunciado em toda rodada.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7196328" y="5273599"/>
            <a:ext cx="4434840" cy="1545336"/>
          </a:xfrm>
          <a:prstGeom prst="roundRect">
            <a:avLst>
              <a:gd name="adj" fmla="val 2959"/>
            </a:avLst>
          </a:prstGeom>
          <a:solidFill>
            <a:srgbClr val="F4F1F9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34072" y="5474767"/>
            <a:ext cx="3959352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empate existe mesmo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434072" y="5882589"/>
            <a:ext cx="395935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podem zerar na mesma rodada, porque atacam um depois do outro. É para isso que serve o else.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DE SEMPRE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 errado? Procure aqui primeiro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65836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acontece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Quase sempre é isto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um # a mais do que o número da vida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&lt;= Vida no lugar de i &lt; Vida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nome sai repetido vinte vezes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Console.Write(Nome...) ficou DENTRO das chaves do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CS1061: não contém uma definição para...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método não existe na classe, ou o nome está escrito diferente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CS0103: o nome 'a' não existe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lutador foi usado antes de ser criado, ou foi criado fora do Main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barra não encolhe nunca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Atacar está tirando de dano, e não de alvo.Vida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vencedor aparece em toda rodada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if final ficou dentro das chaves do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janela pisca e some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faltou o Console.ReadLine() na última linha do Main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laço não para nunca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i++ ficou de fora, ou a condição nunca chega a ser falsa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285232"/>
            <a:ext cx="11064240" cy="1090879"/>
          </a:xfrm>
          <a:prstGeom prst="roundRect">
            <a:avLst>
              <a:gd name="adj" fmla="val 3353"/>
            </a:avLst>
          </a:prstGeom>
          <a:solidFill>
            <a:srgbClr val="F4F1F9"/>
          </a:solidFill>
          <a:ln w="9525">
            <a:solidFill>
              <a:srgbClr val="5C2D9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8096" y="5486400"/>
            <a:ext cx="310896" cy="310896"/>
          </a:xfrm>
          <a:prstGeom prst="ellipse">
            <a:avLst/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5486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07008" y="5449824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sempre a PRIMEIRA mensagem de erro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07008" y="5705856"/>
            <a:ext cx="10195560" cy="578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erro de digitação costuma gerar cinco mensagens, e as quatro últimas são consequência da primeira: conserte-a e as outras somem juntas. Antes de chamar o professor, confira as chaves e os ponto-e-vírgulas.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DESAFIOS, DO MAIS FÁCIL AO MAIS DIFÍCIL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Terminou antes?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749040"/>
                <a:gridCol w="6766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Desafio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Trocar o caractere da barra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* ou = no lugar do #. É um caractere, num lugar só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Mostrar a vida perdida com pontos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SEGUNDO for, começando em Vida e indo até 20, escrevendo "."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Barra vermelha com a vida baixa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Console.ForegroundColor = ConsoleColor.Red; antes do laço, e Gray depois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pausa entre as rodadas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System.Threading.Thread.Sleep(700); dentro do for das rodadas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069080"/>
            <a:ext cx="11064240" cy="1090879"/>
          </a:xfrm>
          <a:prstGeom prst="roundRect">
            <a:avLst>
              <a:gd name="adj" fmla="val 3353"/>
            </a:avLst>
          </a:prstGeom>
          <a:solidFill>
            <a:srgbClr val="F4F1F9"/>
          </a:solidFill>
          <a:ln w="9525">
            <a:solidFill>
              <a:srgbClr val="5C2D9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8096" y="4270248"/>
            <a:ext cx="310896" cy="310896"/>
          </a:xfrm>
          <a:prstGeom prst="ellipse">
            <a:avLst/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07008" y="4233672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2 é o mais importante dos quatro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07008" y="4489704"/>
            <a:ext cx="10195560" cy="578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obriga um laço que NÃO começa em zero. Se você entender por que o segundo for começa em Vida, entendeu o for de verdade.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5342839"/>
            <a:ext cx="11064240" cy="1090879"/>
          </a:xfrm>
          <a:prstGeom prst="roundRect">
            <a:avLst>
              <a:gd name="adj" fmla="val 3353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" y="5544007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440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07008" y="5507431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quinto desafio é a aula de amanhã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207008" y="5763463"/>
            <a:ext cx="10195560" cy="578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Tente pôr um terceiro lutador no duelo. Vai funcionar — e você vai descobrir que precisa repetir o que já escreveu em cinco lugares diferentes. Guarde esse incômodo: amanhã ele tem nome e tem solução.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D1B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4630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O ARQUIVO COMPLETO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Lutador.cs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412480" y="38404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duelo-final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38404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inteiro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5391760" cy="5266780"/>
          </a:xfrm>
          <a:prstGeom prst="rect">
            <a:avLst/>
          </a:prstGeom>
          <a:solidFill>
            <a:srgbClr val="FAFAFC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207008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67" dirty="0"/>
          </a:p>
        </p:txBody>
      </p:sp>
      <p:sp>
        <p:nvSpPr>
          <p:cNvPr id="9" name="Text 7"/>
          <p:cNvSpPr/>
          <p:nvPr/>
        </p:nvSpPr>
        <p:spPr>
          <a:xfrm>
            <a:off x="932688" y="1207008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67" dirty="0"/>
          </a:p>
        </p:txBody>
      </p:sp>
      <p:sp>
        <p:nvSpPr>
          <p:cNvPr id="10" name="Text 8"/>
          <p:cNvSpPr/>
          <p:nvPr/>
        </p:nvSpPr>
        <p:spPr>
          <a:xfrm>
            <a:off x="603504" y="1345399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667" dirty="0"/>
          </a:p>
        </p:txBody>
      </p:sp>
      <p:sp>
        <p:nvSpPr>
          <p:cNvPr id="11" name="Text 9"/>
          <p:cNvSpPr/>
          <p:nvPr/>
        </p:nvSpPr>
        <p:spPr>
          <a:xfrm>
            <a:off x="603504" y="1483791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667" dirty="0"/>
          </a:p>
        </p:txBody>
      </p:sp>
      <p:sp>
        <p:nvSpPr>
          <p:cNvPr id="12" name="Text 10"/>
          <p:cNvSpPr/>
          <p:nvPr/>
        </p:nvSpPr>
        <p:spPr>
          <a:xfrm>
            <a:off x="932688" y="1483791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Duelo</a:t>
            </a:r>
            <a:endParaRPr lang="en-US" sz="767" dirty="0"/>
          </a:p>
        </p:txBody>
      </p:sp>
      <p:sp>
        <p:nvSpPr>
          <p:cNvPr id="13" name="Text 11"/>
          <p:cNvSpPr/>
          <p:nvPr/>
        </p:nvSpPr>
        <p:spPr>
          <a:xfrm>
            <a:off x="603504" y="1622182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667" dirty="0"/>
          </a:p>
        </p:txBody>
      </p:sp>
      <p:sp>
        <p:nvSpPr>
          <p:cNvPr id="14" name="Text 12"/>
          <p:cNvSpPr/>
          <p:nvPr/>
        </p:nvSpPr>
        <p:spPr>
          <a:xfrm>
            <a:off x="932688" y="1622182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67" dirty="0"/>
          </a:p>
        </p:txBody>
      </p:sp>
      <p:sp>
        <p:nvSpPr>
          <p:cNvPr id="15" name="Text 13"/>
          <p:cNvSpPr/>
          <p:nvPr/>
        </p:nvSpPr>
        <p:spPr>
          <a:xfrm>
            <a:off x="603504" y="1760573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667" dirty="0"/>
          </a:p>
        </p:txBody>
      </p:sp>
      <p:sp>
        <p:nvSpPr>
          <p:cNvPr id="16" name="Text 14"/>
          <p:cNvSpPr/>
          <p:nvPr/>
        </p:nvSpPr>
        <p:spPr>
          <a:xfrm>
            <a:off x="932688" y="1760573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767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MOLDE do lutador: o que ele tem e o que ele sabe fazer.</a:t>
            </a:r>
            <a:endParaRPr lang="en-US" sz="767" dirty="0"/>
          </a:p>
        </p:txBody>
      </p:sp>
      <p:sp>
        <p:nvSpPr>
          <p:cNvPr id="17" name="Text 15"/>
          <p:cNvSpPr/>
          <p:nvPr/>
        </p:nvSpPr>
        <p:spPr>
          <a:xfrm>
            <a:off x="603504" y="1898964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667" dirty="0"/>
          </a:p>
        </p:txBody>
      </p:sp>
      <p:sp>
        <p:nvSpPr>
          <p:cNvPr id="18" name="Text 16"/>
          <p:cNvSpPr/>
          <p:nvPr/>
        </p:nvSpPr>
        <p:spPr>
          <a:xfrm>
            <a:off x="932688" y="1898964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</a:t>
            </a:r>
            <a:endParaRPr lang="en-US" sz="767" dirty="0"/>
          </a:p>
        </p:txBody>
      </p:sp>
      <p:sp>
        <p:nvSpPr>
          <p:cNvPr id="19" name="Text 17"/>
          <p:cNvSpPr/>
          <p:nvPr/>
        </p:nvSpPr>
        <p:spPr>
          <a:xfrm>
            <a:off x="603504" y="2037356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667" dirty="0"/>
          </a:p>
        </p:txBody>
      </p:sp>
      <p:sp>
        <p:nvSpPr>
          <p:cNvPr id="20" name="Text 18"/>
          <p:cNvSpPr/>
          <p:nvPr/>
        </p:nvSpPr>
        <p:spPr>
          <a:xfrm>
            <a:off x="932688" y="2037356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67" dirty="0"/>
          </a:p>
        </p:txBody>
      </p:sp>
      <p:sp>
        <p:nvSpPr>
          <p:cNvPr id="21" name="Text 19"/>
          <p:cNvSpPr/>
          <p:nvPr/>
        </p:nvSpPr>
        <p:spPr>
          <a:xfrm>
            <a:off x="603504" y="2175747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667" dirty="0"/>
          </a:p>
        </p:txBody>
      </p:sp>
      <p:sp>
        <p:nvSpPr>
          <p:cNvPr id="22" name="Text 20"/>
          <p:cNvSpPr/>
          <p:nvPr/>
        </p:nvSpPr>
        <p:spPr>
          <a:xfrm>
            <a:off x="932688" y="2175747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67" dirty="0"/>
          </a:p>
        </p:txBody>
      </p:sp>
      <p:sp>
        <p:nvSpPr>
          <p:cNvPr id="23" name="Text 21"/>
          <p:cNvSpPr/>
          <p:nvPr/>
        </p:nvSpPr>
        <p:spPr>
          <a:xfrm>
            <a:off x="603504" y="2314138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667" dirty="0"/>
          </a:p>
        </p:txBody>
      </p:sp>
      <p:sp>
        <p:nvSpPr>
          <p:cNvPr id="24" name="Text 22"/>
          <p:cNvSpPr/>
          <p:nvPr/>
        </p:nvSpPr>
        <p:spPr>
          <a:xfrm>
            <a:off x="932688" y="2314138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67" dirty="0"/>
          </a:p>
        </p:txBody>
      </p:sp>
      <p:sp>
        <p:nvSpPr>
          <p:cNvPr id="25" name="Text 23"/>
          <p:cNvSpPr/>
          <p:nvPr/>
        </p:nvSpPr>
        <p:spPr>
          <a:xfrm>
            <a:off x="603504" y="2452529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667" dirty="0"/>
          </a:p>
        </p:txBody>
      </p:sp>
      <p:sp>
        <p:nvSpPr>
          <p:cNvPr id="26" name="Text 24"/>
          <p:cNvSpPr/>
          <p:nvPr/>
        </p:nvSpPr>
        <p:spPr>
          <a:xfrm>
            <a:off x="932688" y="2452529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Forca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67" dirty="0"/>
          </a:p>
        </p:txBody>
      </p:sp>
      <p:sp>
        <p:nvSpPr>
          <p:cNvPr id="27" name="Text 25"/>
          <p:cNvSpPr/>
          <p:nvPr/>
        </p:nvSpPr>
        <p:spPr>
          <a:xfrm>
            <a:off x="603504" y="2590921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667" dirty="0"/>
          </a:p>
        </p:txBody>
      </p:sp>
      <p:sp>
        <p:nvSpPr>
          <p:cNvPr id="28" name="Text 26"/>
          <p:cNvSpPr/>
          <p:nvPr/>
        </p:nvSpPr>
        <p:spPr>
          <a:xfrm>
            <a:off x="603504" y="2729312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667" dirty="0"/>
          </a:p>
        </p:txBody>
      </p:sp>
      <p:sp>
        <p:nvSpPr>
          <p:cNvPr id="29" name="Text 27"/>
          <p:cNvSpPr/>
          <p:nvPr/>
        </p:nvSpPr>
        <p:spPr>
          <a:xfrm>
            <a:off x="932688" y="2729312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767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Desenha a barra de vida.</a:t>
            </a:r>
            <a:endParaRPr lang="en-US" sz="767" dirty="0"/>
          </a:p>
        </p:txBody>
      </p:sp>
      <p:sp>
        <p:nvSpPr>
          <p:cNvPr id="30" name="Text 28"/>
          <p:cNvSpPr/>
          <p:nvPr/>
        </p:nvSpPr>
        <p:spPr>
          <a:xfrm>
            <a:off x="603504" y="2867703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667" dirty="0"/>
          </a:p>
        </p:txBody>
      </p:sp>
      <p:sp>
        <p:nvSpPr>
          <p:cNvPr id="31" name="Text 29"/>
          <p:cNvSpPr/>
          <p:nvPr/>
        </p:nvSpPr>
        <p:spPr>
          <a:xfrm>
            <a:off x="932688" y="2867703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767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AQUI MORA O PRIMEIRO "for" DA AULA - e ele desenha.</a:t>
            </a:r>
            <a:endParaRPr lang="en-US" sz="767" dirty="0"/>
          </a:p>
        </p:txBody>
      </p:sp>
      <p:sp>
        <p:nvSpPr>
          <p:cNvPr id="32" name="Text 30"/>
          <p:cNvSpPr/>
          <p:nvPr/>
        </p:nvSpPr>
        <p:spPr>
          <a:xfrm>
            <a:off x="603504" y="3006094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667" dirty="0"/>
          </a:p>
        </p:txBody>
      </p:sp>
      <p:sp>
        <p:nvSpPr>
          <p:cNvPr id="33" name="Text 31"/>
          <p:cNvSpPr/>
          <p:nvPr/>
        </p:nvSpPr>
        <p:spPr>
          <a:xfrm>
            <a:off x="932688" y="3006094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MostrarBarra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767" dirty="0"/>
          </a:p>
        </p:txBody>
      </p:sp>
      <p:sp>
        <p:nvSpPr>
          <p:cNvPr id="34" name="Text 32"/>
          <p:cNvSpPr/>
          <p:nvPr/>
        </p:nvSpPr>
        <p:spPr>
          <a:xfrm>
            <a:off x="603504" y="3144486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667" dirty="0"/>
          </a:p>
        </p:txBody>
      </p:sp>
      <p:sp>
        <p:nvSpPr>
          <p:cNvPr id="35" name="Text 33"/>
          <p:cNvSpPr/>
          <p:nvPr/>
        </p:nvSpPr>
        <p:spPr>
          <a:xfrm>
            <a:off x="932688" y="3144486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67" dirty="0"/>
          </a:p>
        </p:txBody>
      </p:sp>
      <p:sp>
        <p:nvSpPr>
          <p:cNvPr id="36" name="Text 34"/>
          <p:cNvSpPr/>
          <p:nvPr/>
        </p:nvSpPr>
        <p:spPr>
          <a:xfrm>
            <a:off x="603504" y="3282877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667" dirty="0"/>
          </a:p>
        </p:txBody>
      </p:sp>
      <p:sp>
        <p:nvSpPr>
          <p:cNvPr id="37" name="Text 35"/>
          <p:cNvSpPr/>
          <p:nvPr/>
        </p:nvSpPr>
        <p:spPr>
          <a:xfrm>
            <a:off x="932688" y="3282877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67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67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PadRight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67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767" dirty="0"/>
          </a:p>
        </p:txBody>
      </p:sp>
      <p:sp>
        <p:nvSpPr>
          <p:cNvPr id="38" name="Text 36"/>
          <p:cNvSpPr/>
          <p:nvPr/>
        </p:nvSpPr>
        <p:spPr>
          <a:xfrm>
            <a:off x="603504" y="3421268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667" dirty="0"/>
          </a:p>
        </p:txBody>
      </p:sp>
      <p:sp>
        <p:nvSpPr>
          <p:cNvPr id="39" name="Text 37"/>
          <p:cNvSpPr/>
          <p:nvPr/>
        </p:nvSpPr>
        <p:spPr>
          <a:xfrm>
            <a:off x="603504" y="3559659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667" dirty="0"/>
          </a:p>
        </p:txBody>
      </p:sp>
      <p:sp>
        <p:nvSpPr>
          <p:cNvPr id="40" name="Text 38"/>
          <p:cNvSpPr/>
          <p:nvPr/>
        </p:nvSpPr>
        <p:spPr>
          <a:xfrm>
            <a:off x="932688" y="3559659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endParaRPr lang="en-US" sz="767" dirty="0"/>
          </a:p>
        </p:txBody>
      </p:sp>
      <p:sp>
        <p:nvSpPr>
          <p:cNvPr id="41" name="Text 39"/>
          <p:cNvSpPr/>
          <p:nvPr/>
        </p:nvSpPr>
        <p:spPr>
          <a:xfrm>
            <a:off x="603504" y="3698051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667" dirty="0"/>
          </a:p>
        </p:txBody>
      </p:sp>
      <p:sp>
        <p:nvSpPr>
          <p:cNvPr id="42" name="Text 40"/>
          <p:cNvSpPr/>
          <p:nvPr/>
        </p:nvSpPr>
        <p:spPr>
          <a:xfrm>
            <a:off x="932688" y="3698051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67" dirty="0"/>
          </a:p>
        </p:txBody>
      </p:sp>
      <p:sp>
        <p:nvSpPr>
          <p:cNvPr id="43" name="Text 41"/>
          <p:cNvSpPr/>
          <p:nvPr/>
        </p:nvSpPr>
        <p:spPr>
          <a:xfrm>
            <a:off x="603504" y="3836442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667" dirty="0"/>
          </a:p>
        </p:txBody>
      </p:sp>
      <p:sp>
        <p:nvSpPr>
          <p:cNvPr id="44" name="Text 42"/>
          <p:cNvSpPr/>
          <p:nvPr/>
        </p:nvSpPr>
        <p:spPr>
          <a:xfrm>
            <a:off x="932688" y="3836442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67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67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67" dirty="0"/>
          </a:p>
        </p:txBody>
      </p:sp>
      <p:sp>
        <p:nvSpPr>
          <p:cNvPr id="45" name="Text 43"/>
          <p:cNvSpPr/>
          <p:nvPr/>
        </p:nvSpPr>
        <p:spPr>
          <a:xfrm>
            <a:off x="603504" y="3974833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667" dirty="0"/>
          </a:p>
        </p:txBody>
      </p:sp>
      <p:sp>
        <p:nvSpPr>
          <p:cNvPr id="46" name="Text 44"/>
          <p:cNvSpPr/>
          <p:nvPr/>
        </p:nvSpPr>
        <p:spPr>
          <a:xfrm>
            <a:off x="932688" y="3974833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67" dirty="0"/>
          </a:p>
        </p:txBody>
      </p:sp>
      <p:sp>
        <p:nvSpPr>
          <p:cNvPr id="47" name="Text 45"/>
          <p:cNvSpPr/>
          <p:nvPr/>
        </p:nvSpPr>
        <p:spPr>
          <a:xfrm>
            <a:off x="603504" y="4113224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667" dirty="0"/>
          </a:p>
        </p:txBody>
      </p:sp>
      <p:sp>
        <p:nvSpPr>
          <p:cNvPr id="48" name="Text 46"/>
          <p:cNvSpPr/>
          <p:nvPr/>
        </p:nvSpPr>
        <p:spPr>
          <a:xfrm>
            <a:off x="603504" y="4251616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667" dirty="0"/>
          </a:p>
        </p:txBody>
      </p:sp>
      <p:sp>
        <p:nvSpPr>
          <p:cNvPr id="49" name="Text 47"/>
          <p:cNvSpPr/>
          <p:nvPr/>
        </p:nvSpPr>
        <p:spPr>
          <a:xfrm>
            <a:off x="932688" y="4251616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67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67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"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67" dirty="0"/>
          </a:p>
        </p:txBody>
      </p:sp>
      <p:sp>
        <p:nvSpPr>
          <p:cNvPr id="50" name="Text 48"/>
          <p:cNvSpPr/>
          <p:nvPr/>
        </p:nvSpPr>
        <p:spPr>
          <a:xfrm>
            <a:off x="603504" y="4390007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667" dirty="0"/>
          </a:p>
        </p:txBody>
      </p:sp>
      <p:sp>
        <p:nvSpPr>
          <p:cNvPr id="51" name="Text 49"/>
          <p:cNvSpPr/>
          <p:nvPr/>
        </p:nvSpPr>
        <p:spPr>
          <a:xfrm>
            <a:off x="932688" y="4390007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67" dirty="0"/>
          </a:p>
        </p:txBody>
      </p:sp>
      <p:sp>
        <p:nvSpPr>
          <p:cNvPr id="52" name="Text 50"/>
          <p:cNvSpPr/>
          <p:nvPr/>
        </p:nvSpPr>
        <p:spPr>
          <a:xfrm>
            <a:off x="603504" y="4528398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667" dirty="0"/>
          </a:p>
        </p:txBody>
      </p:sp>
      <p:sp>
        <p:nvSpPr>
          <p:cNvPr id="53" name="Text 51"/>
          <p:cNvSpPr/>
          <p:nvPr/>
        </p:nvSpPr>
        <p:spPr>
          <a:xfrm>
            <a:off x="603504" y="4666789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667" dirty="0"/>
          </a:p>
        </p:txBody>
      </p:sp>
      <p:sp>
        <p:nvSpPr>
          <p:cNvPr id="54" name="Text 52"/>
          <p:cNvSpPr/>
          <p:nvPr/>
        </p:nvSpPr>
        <p:spPr>
          <a:xfrm>
            <a:off x="932688" y="4666789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767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Bate no alvo e conta o que aconteceu.</a:t>
            </a:r>
            <a:endParaRPr lang="en-US" sz="767" dirty="0"/>
          </a:p>
        </p:txBody>
      </p:sp>
      <p:sp>
        <p:nvSpPr>
          <p:cNvPr id="55" name="Text 53"/>
          <p:cNvSpPr/>
          <p:nvPr/>
        </p:nvSpPr>
        <p:spPr>
          <a:xfrm>
            <a:off x="603504" y="4805181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667" dirty="0"/>
          </a:p>
        </p:txBody>
      </p:sp>
      <p:sp>
        <p:nvSpPr>
          <p:cNvPr id="56" name="Text 54"/>
          <p:cNvSpPr/>
          <p:nvPr/>
        </p:nvSpPr>
        <p:spPr>
          <a:xfrm>
            <a:off x="932688" y="4805181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Atacar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sorteio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67" dirty="0"/>
          </a:p>
        </p:txBody>
      </p:sp>
      <p:sp>
        <p:nvSpPr>
          <p:cNvPr id="57" name="Text 55"/>
          <p:cNvSpPr/>
          <p:nvPr/>
        </p:nvSpPr>
        <p:spPr>
          <a:xfrm>
            <a:off x="603504" y="4943572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667" dirty="0"/>
          </a:p>
        </p:txBody>
      </p:sp>
      <p:sp>
        <p:nvSpPr>
          <p:cNvPr id="58" name="Text 56"/>
          <p:cNvSpPr/>
          <p:nvPr/>
        </p:nvSpPr>
        <p:spPr>
          <a:xfrm>
            <a:off x="932688" y="4943572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67" dirty="0"/>
          </a:p>
        </p:txBody>
      </p:sp>
      <p:sp>
        <p:nvSpPr>
          <p:cNvPr id="59" name="Text 57"/>
          <p:cNvSpPr/>
          <p:nvPr/>
        </p:nvSpPr>
        <p:spPr>
          <a:xfrm>
            <a:off x="603504" y="5081963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667" dirty="0"/>
          </a:p>
        </p:txBody>
      </p:sp>
      <p:sp>
        <p:nvSpPr>
          <p:cNvPr id="60" name="Text 58"/>
          <p:cNvSpPr/>
          <p:nvPr/>
        </p:nvSpPr>
        <p:spPr>
          <a:xfrm>
            <a:off x="932688" y="5081963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dano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sorteio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67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67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Forca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67" dirty="0"/>
          </a:p>
        </p:txBody>
      </p:sp>
      <p:sp>
        <p:nvSpPr>
          <p:cNvPr id="61" name="Text 59"/>
          <p:cNvSpPr/>
          <p:nvPr/>
        </p:nvSpPr>
        <p:spPr>
          <a:xfrm>
            <a:off x="603504" y="5220354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667" dirty="0"/>
          </a:p>
        </p:txBody>
      </p:sp>
      <p:sp>
        <p:nvSpPr>
          <p:cNvPr id="62" name="Text 60"/>
          <p:cNvSpPr/>
          <p:nvPr/>
        </p:nvSpPr>
        <p:spPr>
          <a:xfrm>
            <a:off x="603504" y="5358746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667" dirty="0"/>
          </a:p>
        </p:txBody>
      </p:sp>
      <p:sp>
        <p:nvSpPr>
          <p:cNvPr id="63" name="Text 61"/>
          <p:cNvSpPr/>
          <p:nvPr/>
        </p:nvSpPr>
        <p:spPr>
          <a:xfrm>
            <a:off x="932688" y="5358746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dano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67" dirty="0"/>
          </a:p>
        </p:txBody>
      </p:sp>
      <p:sp>
        <p:nvSpPr>
          <p:cNvPr id="64" name="Text 62"/>
          <p:cNvSpPr/>
          <p:nvPr/>
        </p:nvSpPr>
        <p:spPr>
          <a:xfrm>
            <a:off x="603504" y="5497137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667" dirty="0"/>
          </a:p>
        </p:txBody>
      </p:sp>
      <p:sp>
        <p:nvSpPr>
          <p:cNvPr id="65" name="Text 63"/>
          <p:cNvSpPr/>
          <p:nvPr/>
        </p:nvSpPr>
        <p:spPr>
          <a:xfrm>
            <a:off x="603504" y="5635528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667" dirty="0"/>
          </a:p>
        </p:txBody>
      </p:sp>
      <p:sp>
        <p:nvSpPr>
          <p:cNvPr id="66" name="Text 64"/>
          <p:cNvSpPr/>
          <p:nvPr/>
        </p:nvSpPr>
        <p:spPr>
          <a:xfrm>
            <a:off x="932688" y="5635528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67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67" dirty="0"/>
          </a:p>
        </p:txBody>
      </p:sp>
      <p:sp>
        <p:nvSpPr>
          <p:cNvPr id="67" name="Text 65"/>
          <p:cNvSpPr/>
          <p:nvPr/>
        </p:nvSpPr>
        <p:spPr>
          <a:xfrm>
            <a:off x="603504" y="5773919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667" dirty="0"/>
          </a:p>
        </p:txBody>
      </p:sp>
      <p:sp>
        <p:nvSpPr>
          <p:cNvPr id="68" name="Text 66"/>
          <p:cNvSpPr/>
          <p:nvPr/>
        </p:nvSpPr>
        <p:spPr>
          <a:xfrm>
            <a:off x="932688" y="5773919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67" dirty="0"/>
          </a:p>
        </p:txBody>
      </p:sp>
      <p:sp>
        <p:nvSpPr>
          <p:cNvPr id="69" name="Text 67"/>
          <p:cNvSpPr/>
          <p:nvPr/>
        </p:nvSpPr>
        <p:spPr>
          <a:xfrm>
            <a:off x="603504" y="5912311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667" dirty="0"/>
          </a:p>
        </p:txBody>
      </p:sp>
      <p:sp>
        <p:nvSpPr>
          <p:cNvPr id="70" name="Text 68"/>
          <p:cNvSpPr/>
          <p:nvPr/>
        </p:nvSpPr>
        <p:spPr>
          <a:xfrm>
            <a:off x="932688" y="5912311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67" dirty="0"/>
          </a:p>
        </p:txBody>
      </p:sp>
      <p:sp>
        <p:nvSpPr>
          <p:cNvPr id="71" name="Text 69"/>
          <p:cNvSpPr/>
          <p:nvPr/>
        </p:nvSpPr>
        <p:spPr>
          <a:xfrm>
            <a:off x="603504" y="6050702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667" dirty="0"/>
          </a:p>
        </p:txBody>
      </p:sp>
      <p:sp>
        <p:nvSpPr>
          <p:cNvPr id="72" name="Text 70"/>
          <p:cNvSpPr/>
          <p:nvPr/>
        </p:nvSpPr>
        <p:spPr>
          <a:xfrm>
            <a:off x="932688" y="6050702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67" dirty="0"/>
          </a:p>
        </p:txBody>
      </p:sp>
      <p:sp>
        <p:nvSpPr>
          <p:cNvPr id="73" name="Text 71"/>
          <p:cNvSpPr/>
          <p:nvPr/>
        </p:nvSpPr>
        <p:spPr>
          <a:xfrm>
            <a:off x="603504" y="6189093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667" dirty="0"/>
          </a:p>
        </p:txBody>
      </p:sp>
      <p:sp>
        <p:nvSpPr>
          <p:cNvPr id="74" name="Shape 72"/>
          <p:cNvSpPr/>
          <p:nvPr/>
        </p:nvSpPr>
        <p:spPr>
          <a:xfrm>
            <a:off x="6233008" y="1133856"/>
            <a:ext cx="5391760" cy="699869"/>
          </a:xfrm>
          <a:prstGeom prst="rect">
            <a:avLst/>
          </a:prstGeom>
          <a:solidFill>
            <a:srgbClr val="FAFAFC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69584" y="1207008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667" dirty="0"/>
          </a:p>
        </p:txBody>
      </p:sp>
      <p:sp>
        <p:nvSpPr>
          <p:cNvPr id="76" name="Text 74"/>
          <p:cNvSpPr/>
          <p:nvPr/>
        </p:nvSpPr>
        <p:spPr>
          <a:xfrm>
            <a:off x="6598768" y="1207008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67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bate em "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67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(-"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dano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67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")"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67" dirty="0"/>
          </a:p>
        </p:txBody>
      </p:sp>
      <p:sp>
        <p:nvSpPr>
          <p:cNvPr id="77" name="Text 75"/>
          <p:cNvSpPr/>
          <p:nvPr/>
        </p:nvSpPr>
        <p:spPr>
          <a:xfrm>
            <a:off x="6269584" y="1345399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667" dirty="0"/>
          </a:p>
        </p:txBody>
      </p:sp>
      <p:sp>
        <p:nvSpPr>
          <p:cNvPr id="78" name="Text 76"/>
          <p:cNvSpPr/>
          <p:nvPr/>
        </p:nvSpPr>
        <p:spPr>
          <a:xfrm>
            <a:off x="6598768" y="1345399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67" dirty="0"/>
          </a:p>
        </p:txBody>
      </p:sp>
      <p:sp>
        <p:nvSpPr>
          <p:cNvPr id="79" name="Text 77"/>
          <p:cNvSpPr/>
          <p:nvPr/>
        </p:nvSpPr>
        <p:spPr>
          <a:xfrm>
            <a:off x="6269584" y="1483791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667" dirty="0"/>
          </a:p>
        </p:txBody>
      </p:sp>
      <p:sp>
        <p:nvSpPr>
          <p:cNvPr id="80" name="Text 78"/>
          <p:cNvSpPr/>
          <p:nvPr/>
        </p:nvSpPr>
        <p:spPr>
          <a:xfrm>
            <a:off x="6598768" y="1483791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67" dirty="0"/>
          </a:p>
        </p:txBody>
      </p:sp>
      <p:sp>
        <p:nvSpPr>
          <p:cNvPr id="81" name="Text 79"/>
          <p:cNvSpPr/>
          <p:nvPr/>
        </p:nvSpPr>
        <p:spPr>
          <a:xfrm>
            <a:off x="6269584" y="1622182"/>
            <a:ext cx="274320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7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667" dirty="0"/>
          </a:p>
        </p:txBody>
      </p:sp>
      <p:sp>
        <p:nvSpPr>
          <p:cNvPr id="82" name="Text 80"/>
          <p:cNvSpPr/>
          <p:nvPr/>
        </p:nvSpPr>
        <p:spPr>
          <a:xfrm>
            <a:off x="6598768" y="1622182"/>
            <a:ext cx="4952848" cy="13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7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67" dirty="0"/>
          </a:p>
        </p:txBody>
      </p:sp>
      <p:sp>
        <p:nvSpPr>
          <p:cNvPr id="83" name="Text 81"/>
          <p:cNvSpPr/>
          <p:nvPr/>
        </p:nvSpPr>
        <p:spPr>
          <a:xfrm>
            <a:off x="566928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Lutador.cs  ·  41 linhas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D1B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4630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O ARQUIVO COMPLETO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412480" y="38404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duelo-final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38404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inteiro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5391760" cy="5350916"/>
          </a:xfrm>
          <a:prstGeom prst="rect">
            <a:avLst/>
          </a:prstGeom>
          <a:solidFill>
            <a:srgbClr val="FAFAFC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207008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932688" y="1207008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603504" y="1347673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03504" y="1488338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932688" y="1488338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Duelo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03504" y="1629004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932688" y="1629004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603504" y="1769669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932688" y="1769669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603504" y="1910334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932688" y="1910334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603504" y="2050999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932688" y="2050999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78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603504" y="2191664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932688" y="2191664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603504" y="2332330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932688" y="2332330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sorteio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603504" y="2472995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603504" y="2613660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932688" y="2613660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03504" y="2754325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932688" y="2754325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603504" y="2894990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603504" y="3035656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932688" y="3035656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Lutador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03504" y="3176321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932688" y="3176321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"Bruno"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603504" y="3316986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603504" y="3457651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932688" y="3457651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"DUELO: "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x "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603504" y="3598316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932688" y="3598316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603504" y="3738982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603504" y="3879647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932688" y="3879647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SEGUNDO "for": conta as rodadas.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603504" y="4020312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932688" y="4020312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limite de 20 e trava de seguranca, para nunca rodar sem fim.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603504" y="4160977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932688" y="4160977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8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603504" y="4301642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932688" y="4301642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603504" y="4442308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932688" y="4442308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"--- RODADA "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---"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603504" y="4582973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03504" y="4723638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932688" y="4723638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Atacar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sorteio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603504" y="4864303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932688" y="4864303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Atacar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sorteio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603504" y="5004968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03504" y="5145634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680" dirty="0"/>
          </a:p>
        </p:txBody>
      </p:sp>
      <p:sp>
        <p:nvSpPr>
          <p:cNvPr id="58" name="Text 56"/>
          <p:cNvSpPr/>
          <p:nvPr/>
        </p:nvSpPr>
        <p:spPr>
          <a:xfrm>
            <a:off x="932688" y="5145634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MostrarBarra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603504" y="5286299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932688" y="5286299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MostrarBarra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603504" y="5426964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932688" y="5426964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603504" y="5567629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603504" y="5708294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932688" y="5708294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buNone/>
            </a:pPr>
            <a:r>
              <a:rPr lang="en-US" sz="78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03504" y="5848960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932688" y="5848960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603504" y="5989625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680" dirty="0"/>
          </a:p>
        </p:txBody>
      </p:sp>
      <p:sp>
        <p:nvSpPr>
          <p:cNvPr id="69" name="Text 67"/>
          <p:cNvSpPr/>
          <p:nvPr/>
        </p:nvSpPr>
        <p:spPr>
          <a:xfrm>
            <a:off x="932688" y="5989625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603504" y="6130290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932688" y="6130290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</p:txBody>
      </p:sp>
      <p:sp>
        <p:nvSpPr>
          <p:cNvPr id="72" name="Text 70"/>
          <p:cNvSpPr/>
          <p:nvPr/>
        </p:nvSpPr>
        <p:spPr>
          <a:xfrm>
            <a:off x="603504" y="6270955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932688" y="6270955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6233008" y="1133856"/>
            <a:ext cx="5391760" cy="2678278"/>
          </a:xfrm>
          <a:prstGeom prst="rect">
            <a:avLst/>
          </a:prstGeom>
          <a:solidFill>
            <a:srgbClr val="FAFAFC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69584" y="1207008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6269584" y="1347673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98768" y="1347673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80" dirty="0"/>
          </a:p>
        </p:txBody>
      </p:sp>
      <p:sp>
        <p:nvSpPr>
          <p:cNvPr id="78" name="Text 76"/>
          <p:cNvSpPr/>
          <p:nvPr/>
        </p:nvSpPr>
        <p:spPr>
          <a:xfrm>
            <a:off x="6269584" y="1488338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680" dirty="0"/>
          </a:p>
        </p:txBody>
      </p:sp>
      <p:sp>
        <p:nvSpPr>
          <p:cNvPr id="79" name="Text 77"/>
          <p:cNvSpPr/>
          <p:nvPr/>
        </p:nvSpPr>
        <p:spPr>
          <a:xfrm>
            <a:off x="6598768" y="1488338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6269584" y="1629004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680" dirty="0"/>
          </a:p>
        </p:txBody>
      </p:sp>
      <p:sp>
        <p:nvSpPr>
          <p:cNvPr id="81" name="Text 79"/>
          <p:cNvSpPr/>
          <p:nvPr/>
        </p:nvSpPr>
        <p:spPr>
          <a:xfrm>
            <a:off x="6598768" y="1629004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"VENCEU: "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80" dirty="0"/>
          </a:p>
        </p:txBody>
      </p:sp>
      <p:sp>
        <p:nvSpPr>
          <p:cNvPr id="82" name="Text 80"/>
          <p:cNvSpPr/>
          <p:nvPr/>
        </p:nvSpPr>
        <p:spPr>
          <a:xfrm>
            <a:off x="6269584" y="1769669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680" dirty="0"/>
          </a:p>
        </p:txBody>
      </p:sp>
      <p:sp>
        <p:nvSpPr>
          <p:cNvPr id="83" name="Text 81"/>
          <p:cNvSpPr/>
          <p:nvPr/>
        </p:nvSpPr>
        <p:spPr>
          <a:xfrm>
            <a:off x="6598768" y="1769669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</p:txBody>
      </p:sp>
      <p:sp>
        <p:nvSpPr>
          <p:cNvPr id="84" name="Text 82"/>
          <p:cNvSpPr/>
          <p:nvPr/>
        </p:nvSpPr>
        <p:spPr>
          <a:xfrm>
            <a:off x="6269584" y="1910334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680" dirty="0"/>
          </a:p>
        </p:txBody>
      </p:sp>
      <p:sp>
        <p:nvSpPr>
          <p:cNvPr id="85" name="Text 83"/>
          <p:cNvSpPr/>
          <p:nvPr/>
        </p:nvSpPr>
        <p:spPr>
          <a:xfrm>
            <a:off x="6598768" y="1910334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80" dirty="0"/>
          </a:p>
        </p:txBody>
      </p:sp>
      <p:sp>
        <p:nvSpPr>
          <p:cNvPr id="86" name="Text 84"/>
          <p:cNvSpPr/>
          <p:nvPr/>
        </p:nvSpPr>
        <p:spPr>
          <a:xfrm>
            <a:off x="6269584" y="2050999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680" dirty="0"/>
          </a:p>
        </p:txBody>
      </p:sp>
      <p:sp>
        <p:nvSpPr>
          <p:cNvPr id="87" name="Text 85"/>
          <p:cNvSpPr/>
          <p:nvPr/>
        </p:nvSpPr>
        <p:spPr>
          <a:xfrm>
            <a:off x="6598768" y="2050999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80" dirty="0"/>
          </a:p>
        </p:txBody>
      </p:sp>
      <p:sp>
        <p:nvSpPr>
          <p:cNvPr id="88" name="Text 86"/>
          <p:cNvSpPr/>
          <p:nvPr/>
        </p:nvSpPr>
        <p:spPr>
          <a:xfrm>
            <a:off x="6269584" y="2191664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680" dirty="0"/>
          </a:p>
        </p:txBody>
      </p:sp>
      <p:sp>
        <p:nvSpPr>
          <p:cNvPr id="89" name="Text 87"/>
          <p:cNvSpPr/>
          <p:nvPr/>
        </p:nvSpPr>
        <p:spPr>
          <a:xfrm>
            <a:off x="6598768" y="2191664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"VENCEU: "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80" dirty="0"/>
          </a:p>
        </p:txBody>
      </p:sp>
      <p:sp>
        <p:nvSpPr>
          <p:cNvPr id="90" name="Text 88"/>
          <p:cNvSpPr/>
          <p:nvPr/>
        </p:nvSpPr>
        <p:spPr>
          <a:xfrm>
            <a:off x="6269584" y="2332330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</a:t>
            </a:r>
            <a:endParaRPr lang="en-US" sz="680" dirty="0"/>
          </a:p>
        </p:txBody>
      </p:sp>
      <p:sp>
        <p:nvSpPr>
          <p:cNvPr id="91" name="Text 89"/>
          <p:cNvSpPr/>
          <p:nvPr/>
        </p:nvSpPr>
        <p:spPr>
          <a:xfrm>
            <a:off x="6598768" y="2332330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</p:txBody>
      </p:sp>
      <p:sp>
        <p:nvSpPr>
          <p:cNvPr id="92" name="Text 90"/>
          <p:cNvSpPr/>
          <p:nvPr/>
        </p:nvSpPr>
        <p:spPr>
          <a:xfrm>
            <a:off x="6269584" y="2472995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</a:t>
            </a:r>
            <a:endParaRPr lang="en-US" sz="680" dirty="0"/>
          </a:p>
        </p:txBody>
      </p:sp>
      <p:sp>
        <p:nvSpPr>
          <p:cNvPr id="93" name="Text 91"/>
          <p:cNvSpPr/>
          <p:nvPr/>
        </p:nvSpPr>
        <p:spPr>
          <a:xfrm>
            <a:off x="6598768" y="2472995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780" dirty="0"/>
          </a:p>
        </p:txBody>
      </p:sp>
      <p:sp>
        <p:nvSpPr>
          <p:cNvPr id="94" name="Text 92"/>
          <p:cNvSpPr/>
          <p:nvPr/>
        </p:nvSpPr>
        <p:spPr>
          <a:xfrm>
            <a:off x="6269584" y="2613660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6598768" y="2613660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80" dirty="0"/>
          </a:p>
        </p:txBody>
      </p:sp>
      <p:sp>
        <p:nvSpPr>
          <p:cNvPr id="96" name="Text 94"/>
          <p:cNvSpPr/>
          <p:nvPr/>
        </p:nvSpPr>
        <p:spPr>
          <a:xfrm>
            <a:off x="6269584" y="2754325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</a:t>
            </a:r>
            <a:endParaRPr lang="en-US" sz="680" dirty="0"/>
          </a:p>
        </p:txBody>
      </p:sp>
      <p:sp>
        <p:nvSpPr>
          <p:cNvPr id="97" name="Text 95"/>
          <p:cNvSpPr/>
          <p:nvPr/>
        </p:nvSpPr>
        <p:spPr>
          <a:xfrm>
            <a:off x="6598768" y="2754325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78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"EMPATE!"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80" dirty="0"/>
          </a:p>
        </p:txBody>
      </p:sp>
      <p:sp>
        <p:nvSpPr>
          <p:cNvPr id="98" name="Text 96"/>
          <p:cNvSpPr/>
          <p:nvPr/>
        </p:nvSpPr>
        <p:spPr>
          <a:xfrm>
            <a:off x="6269584" y="2894990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680" dirty="0"/>
          </a:p>
        </p:txBody>
      </p:sp>
      <p:sp>
        <p:nvSpPr>
          <p:cNvPr id="99" name="Text 97"/>
          <p:cNvSpPr/>
          <p:nvPr/>
        </p:nvSpPr>
        <p:spPr>
          <a:xfrm>
            <a:off x="6598768" y="2894990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</p:txBody>
      </p:sp>
      <p:sp>
        <p:nvSpPr>
          <p:cNvPr id="100" name="Text 98"/>
          <p:cNvSpPr/>
          <p:nvPr/>
        </p:nvSpPr>
        <p:spPr>
          <a:xfrm>
            <a:off x="6269584" y="3035656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endParaRPr lang="en-US" sz="680" dirty="0"/>
          </a:p>
        </p:txBody>
      </p:sp>
      <p:sp>
        <p:nvSpPr>
          <p:cNvPr id="101" name="Text 99"/>
          <p:cNvSpPr/>
          <p:nvPr/>
        </p:nvSpPr>
        <p:spPr>
          <a:xfrm>
            <a:off x="6269584" y="3176321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680" dirty="0"/>
          </a:p>
        </p:txBody>
      </p:sp>
      <p:sp>
        <p:nvSpPr>
          <p:cNvPr id="102" name="Text 100"/>
          <p:cNvSpPr/>
          <p:nvPr/>
        </p:nvSpPr>
        <p:spPr>
          <a:xfrm>
            <a:off x="6598768" y="3176321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pPr indent="0" marL="0">
              <a:buNone/>
            </a:pPr>
            <a:r>
              <a:rPr lang="en-US" sz="78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78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ReadLine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780" dirty="0"/>
          </a:p>
        </p:txBody>
      </p:sp>
      <p:sp>
        <p:nvSpPr>
          <p:cNvPr id="103" name="Text 101"/>
          <p:cNvSpPr/>
          <p:nvPr/>
        </p:nvSpPr>
        <p:spPr>
          <a:xfrm>
            <a:off x="6269584" y="3316986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</a:t>
            </a:r>
            <a:endParaRPr lang="en-US" sz="680" dirty="0"/>
          </a:p>
        </p:txBody>
      </p:sp>
      <p:sp>
        <p:nvSpPr>
          <p:cNvPr id="104" name="Text 102"/>
          <p:cNvSpPr/>
          <p:nvPr/>
        </p:nvSpPr>
        <p:spPr>
          <a:xfrm>
            <a:off x="6598768" y="3316986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</p:txBody>
      </p:sp>
      <p:sp>
        <p:nvSpPr>
          <p:cNvPr id="105" name="Text 103"/>
          <p:cNvSpPr/>
          <p:nvPr/>
        </p:nvSpPr>
        <p:spPr>
          <a:xfrm>
            <a:off x="6269584" y="3457651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680" dirty="0"/>
          </a:p>
        </p:txBody>
      </p:sp>
      <p:sp>
        <p:nvSpPr>
          <p:cNvPr id="106" name="Text 104"/>
          <p:cNvSpPr/>
          <p:nvPr/>
        </p:nvSpPr>
        <p:spPr>
          <a:xfrm>
            <a:off x="6598768" y="3457651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</p:txBody>
      </p:sp>
      <p:sp>
        <p:nvSpPr>
          <p:cNvPr id="107" name="Text 105"/>
          <p:cNvSpPr/>
          <p:nvPr/>
        </p:nvSpPr>
        <p:spPr>
          <a:xfrm>
            <a:off x="6269584" y="3598316"/>
            <a:ext cx="274320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A9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endParaRPr lang="en-US" sz="680" dirty="0"/>
          </a:p>
        </p:txBody>
      </p:sp>
      <p:sp>
        <p:nvSpPr>
          <p:cNvPr id="108" name="Text 106"/>
          <p:cNvSpPr/>
          <p:nvPr/>
        </p:nvSpPr>
        <p:spPr>
          <a:xfrm>
            <a:off x="6598768" y="3598316"/>
            <a:ext cx="4952848" cy="1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</p:txBody>
      </p:sp>
      <p:sp>
        <p:nvSpPr>
          <p:cNvPr id="109" name="Text 107"/>
          <p:cNvSpPr/>
          <p:nvPr/>
        </p:nvSpPr>
        <p:spPr>
          <a:xfrm>
            <a:off x="566928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 ·  55 linhas</a:t>
            </a:r>
            <a:endParaRPr lang="en-US" sz="950" dirty="0"/>
          </a:p>
        </p:txBody>
      </p:sp>
      <p:sp>
        <p:nvSpPr>
          <p:cNvPr id="110" name="Text 108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· 17/08  ·  o for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D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leva de hoje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quando você repete a mesma linha duas, três, vinte vezes, o que falta é um laço —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que o laço não precisa saber o número de voltas na hora em que você escreve o programa.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construção desenhou uma barra e conduziu um duelo inteiro. É uma só, e serve para tudo: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começa, até quando, de quanto em quanto.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que você é capaz de escrever um programa inteiro, do zero, em uma noite.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UC12 · 17/08/2026 · Aula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UC12 · Duelo — o seu primeiro laço de repetição</dc:title>
  <dc:subject>PptxGenJS Presentation</dc:subject>
  <dc:creator>UC12 - Tecnico em Informatica</dc:creator>
  <cp:lastModifiedBy>UC12 - Tecnico em Informatica</cp:lastModifiedBy>
  <cp:revision>1</cp:revision>
  <dcterms:created xsi:type="dcterms:W3CDTF">2026-08-17T17:18:12Z</dcterms:created>
  <dcterms:modified xsi:type="dcterms:W3CDTF">2026-08-17T17:18:12Z</dcterms:modified>
</cp:coreProperties>
</file>